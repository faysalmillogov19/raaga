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Public Sans" pitchFamily="2" charset="0"/>
      <p:regular r:id="rId18"/>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5" d="100"/>
          <a:sy n="55" d="100"/>
        </p:scale>
        <p:origin x="1072"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58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Bonjour à </a:t>
            </a:r>
            <a:r>
              <a:rPr dirty="0" err="1"/>
              <a:t>toutes</a:t>
            </a:r>
            <a:r>
              <a:rPr dirty="0"/>
              <a:t> et à </a:t>
            </a:r>
            <a:r>
              <a:rPr dirty="0" err="1"/>
              <a:t>tous</a:t>
            </a:r>
            <a:r>
              <a:rPr dirty="0"/>
              <a:t>. Je vous </a:t>
            </a:r>
            <a:r>
              <a:rPr dirty="0" err="1"/>
              <a:t>présente</a:t>
            </a:r>
            <a:r>
              <a:rPr dirty="0"/>
              <a:t> la </a:t>
            </a:r>
            <a:r>
              <a:rPr dirty="0" err="1"/>
              <a:t>plateforme</a:t>
            </a:r>
            <a:r>
              <a:rPr dirty="0"/>
              <a:t> Raaga, qui </a:t>
            </a:r>
            <a:r>
              <a:rPr dirty="0" err="1"/>
              <a:t>organise</a:t>
            </a:r>
            <a:r>
              <a:rPr dirty="0"/>
              <a:t> </a:t>
            </a:r>
            <a:r>
              <a:rPr dirty="0" err="1"/>
              <a:t>l'attribution</a:t>
            </a:r>
            <a:r>
              <a:rPr dirty="0"/>
              <a:t> des boutiques du </a:t>
            </a:r>
            <a:r>
              <a:rPr dirty="0" err="1"/>
              <a:t>futur</a:t>
            </a:r>
            <a:r>
              <a:rPr dirty="0"/>
              <a:t> </a:t>
            </a:r>
            <a:r>
              <a:rPr dirty="0" err="1"/>
              <a:t>marché</a:t>
            </a:r>
            <a:r>
              <a:rPr dirty="0"/>
              <a:t> et </a:t>
            </a:r>
            <a:r>
              <a:rPr dirty="0" err="1"/>
              <a:t>l'ouverture</a:t>
            </a:r>
            <a:r>
              <a:rPr dirty="0"/>
              <a:t> de son </a:t>
            </a:r>
            <a:r>
              <a:rPr dirty="0" err="1"/>
              <a:t>actionnariat</a:t>
            </a:r>
            <a:r>
              <a:rPr dirty="0"/>
              <a:t> aux </a:t>
            </a:r>
            <a:r>
              <a:rPr dirty="0" err="1"/>
              <a:t>citoyens</a:t>
            </a:r>
            <a:r>
              <a:rPr dirty="0"/>
              <a:t>. Nous </a:t>
            </a:r>
            <a:r>
              <a:rPr dirty="0" err="1"/>
              <a:t>verrons</a:t>
            </a:r>
            <a:r>
              <a:rPr dirty="0"/>
              <a:t> son </a:t>
            </a:r>
            <a:r>
              <a:rPr dirty="0" err="1"/>
              <a:t>fonctionnement</a:t>
            </a:r>
            <a:r>
              <a:rPr dirty="0"/>
              <a:t>, </a:t>
            </a:r>
            <a:r>
              <a:rPr dirty="0" err="1"/>
              <a:t>ses</a:t>
            </a:r>
            <a:r>
              <a:rPr dirty="0"/>
              <a:t> </a:t>
            </a:r>
            <a:r>
              <a:rPr dirty="0" err="1"/>
              <a:t>garanties</a:t>
            </a:r>
            <a:r>
              <a:rPr dirty="0"/>
              <a:t>, </a:t>
            </a:r>
            <a:r>
              <a:rPr dirty="0" err="1"/>
              <a:t>puis</a:t>
            </a:r>
            <a:r>
              <a:rPr dirty="0"/>
              <a:t> </a:t>
            </a:r>
            <a:r>
              <a:rPr dirty="0" err="1"/>
              <a:t>une</a:t>
            </a:r>
            <a:r>
              <a:rPr dirty="0"/>
              <a:t> </a:t>
            </a:r>
            <a:r>
              <a:rPr dirty="0" err="1"/>
              <a:t>courte</a:t>
            </a:r>
            <a:r>
              <a:rPr dirty="0"/>
              <a:t> </a:t>
            </a:r>
            <a:r>
              <a:rPr dirty="0" err="1"/>
              <a:t>démonstration</a:t>
            </a:r>
            <a:r>
              <a:rPr dirty="0"/>
              <a:t>. Une attention </a:t>
            </a:r>
            <a:r>
              <a:rPr dirty="0" err="1"/>
              <a:t>particulière</a:t>
            </a:r>
            <a:r>
              <a:rPr dirty="0"/>
              <a:t> est </a:t>
            </a:r>
            <a:r>
              <a:rPr dirty="0" err="1"/>
              <a:t>portée</a:t>
            </a:r>
            <a:r>
              <a:rPr dirty="0"/>
              <a:t> à la carte </a:t>
            </a:r>
            <a:r>
              <a:rPr dirty="0" err="1"/>
              <a:t>commerçant</a:t>
            </a:r>
            <a:r>
              <a:rPr dirty="0"/>
              <a:t>, qui </a:t>
            </a:r>
            <a:r>
              <a:rPr dirty="0" err="1"/>
              <a:t>conclut</a:t>
            </a:r>
            <a:r>
              <a:rPr dirty="0"/>
              <a:t> le </a:t>
            </a:r>
            <a:r>
              <a:rPr dirty="0" err="1"/>
              <a:t>parcours</a:t>
            </a:r>
            <a:r>
              <a:rPr dirty="0"/>
              <a:t> </a:t>
            </a:r>
            <a:r>
              <a:rPr dirty="0" err="1"/>
              <a:t>d'attribution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marché moderne est en construction et ses boutiques doivent être attribuées. Le projet associe les futurs occupants, mais aussi les citoyens qui peuvent en devenir actionnaires. La plateforme répond à quatre objectifs : une attribution équitable, la transparence, la traçabilité des fonds et la protection contre la fraude. Chacun de ces objectifs se retrouve dans les règles que nous allons voir.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plateforme porte deux démarches qui ne se mélangent jamais. La première permet de réserver une boutique, de payer la caution puis l'avance, et de recevoir sa carte commerçant. La seconde, RAAGA Invest, permet d'acheter des actions du marché et de percevoir des dividendes. Réserver une boutique ne donne aucun droit sur les actions, et acheter des actions ne donne aucune priorité pour une boutique. Les fonds des deux démarches sont versés sur des comptes séparés.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Côté public, les citoyens et les entreprises créent leur compte, réservent, souscrivent et suivent leur dossier dans « Mon espace ». Au back-office, chaque profil n'a que les droits de son rôle. Le régulateur saisit les paramètres et le validateur les confirme : c'est le principe des quatre yeux, l'un saisit et un autre valide. Les profils de support n'ont aucune décision financière.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parcours complet d'une réservation, de gauche à droite. Le citoyen crée son compte et fait vérifier son identité, puis choisit sa boutique sur le plan. La confirmation crée une pré-réservation à son nom ; le paiement de la caution la transforme en réservation. L'avance est payée avant la signature du contrat, et la boutique est alors attribuée. Chaque délai est suivi automatiquement par la plateforme.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plan présente le marché par niveau et par bloc, ainsi que le pôle boucherie-poissonnerie. Chaque case indique le statut de l'emplacement, et un clic ouvre sa fiche. La grille tarifaire est saisie par le RÉGULATEUR et ne s'applique qu'après confirmation du VALIDATEUR. Le loyer, la caution et l'avance sont ensuite calculés automatiquement pour chaque emplacement.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L'attribution suit la règle du premier arrivé, premier servi, sans tirage au sort ni priorité. Une limite par type d'emplacement et par personne évite qu'une même personne réserve plusieurs boutiques du même type ; elle est contrôlée sur la pièce d'identité. Quand une boutique est déjà réservée, on peut s'inscrire sur sa liste d'attente. Si le paiement n'arrive pas dans le délai, la boutique revient automatiquement au premier inscrit.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RAAGA Invest ouvre l'actionnariat du marché aux citoyens. Le prix de l'action et l'objectif de collecte sont fixés par le RÉGULATEUR et confirmés par le VALIDATEUR. Avant de payer, le souscripteur accepte des engagements, notamment que le rendement n'est pas garanti. Si son identité n'est pas validée dans le délai, ses actions sont gelées, sans perdre les dividendes.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plateforme prévoit plusieurs moyens de paiement : Mobile Money, carte bancaire, virement et guichet. Leur mise en service dépend des conventions avec les opérateurs. Chaque paiement est versé sur le compte de location ou sur le compte d'investissement, sans mélange possible. Le paiement par carte se fait sur la page sécurisée de l'opérateur : la plateforme ne demande ni ne conserve aucun numéro de carte. L'identité est vérifiée sur pièce, et les preuves de virement sont contrôlées avant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carte commerçant est l'aboutissement du parcours. Elle est délivrée lorsque la boutique est attribuée et que l'identité est validée. Le commerçant la consulte dans « Mon espace », et l'agent de guichet l'imprime après avoir vérifié sa pièce d'identité. Son QR code permet de la vérifier ; elle est prévue pour la lecture aux portiques, dont l'installation accompagnera l'ouverture du marché. En cas de perte, elle est révoquée puis réémise avec un nouveau code.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agent dispose d'un tableau de bord adapté à son profil. Les décisions en attente apparaissent dans les rubriques « À valider », ce qui évite qu'une demande soit oubliée. Toute action d'un agent est inscrite au journal d'audit : qui, quoi et quand. Les listes peuvent être exportées pour le suivi, et chaque agent se connecte avec une double authentification.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 site public tel qu'il fonctionne aujourd'hui, sur des données fictives ; les montants et les prix sont masqués. À gauche, l'accueil présente la démarche et rappelle la règle du premier arrivé, premier servi. À droite, le plan des boutiques : chaque case indique le statut de l'emplacement, et la fiche détaille l'emplacement choisi. Je peux vous montrer ces écrans en direct.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À gauche, la souscription d'actions : le citoyen doit accepter chaque engagement avant de payer. À droite, la carte d'un commerçant fictif, telle qu'elle apparaît dans « Mon espace », avec son QR code. C'est cette carte que l'agent de guichet imprime après avoir vérifié la pièce d'identité. Je peux, si vous le souhaitez, dérouler ce parcours en direct.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chantiers restent devant nous. Le premier est le raccordement d'un opérateur SMS : il permet aux citoyens de recevoir leur code de connexion et les alertes sur leur dossier. Le second est la carte commerçant dans le portefeuille du téléphone, pour la présenter aux portiques sans support imprimé.</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conclure, la plateforme apporte d'abord l'équité : les mêmes règles s'appliquent à tous, automatiquement. Elle apporte la transparence, puisque le statut des boutiques et l'avancement sont publics, et la traçabilité de chaque paiement et de chaque décision. Elle limite enfin la fraude grâce à l'identité vérifiée, aux cartes contrôlées et au refus de tout paiement à une personne. Je vous remercie de votre attention et je suis à votre disposition pour vos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rche.png"/>
          <p:cNvPicPr>
            <a:picLocks noChangeAspect="1"/>
          </p:cNvPicPr>
          <p:nvPr/>
        </p:nvPicPr>
        <p:blipFill>
          <a:blip r:embed="rId3"/>
          <a:srcRect l="5949" r="5949"/>
          <a:stretch>
            <a:fillRect/>
          </a:stretch>
        </p:blipFill>
        <p:spPr>
          <a:xfrm>
            <a:off x="6318062" y="883350"/>
            <a:ext cx="4469544" cy="3771272"/>
          </a:xfrm>
          <a:prstGeom prst="rect">
            <a:avLst/>
          </a:prstGeom>
        </p:spPr>
      </p:pic>
      <p:pic>
        <p:nvPicPr>
          <p:cNvPr id="3" name="Picture 2" descr="armoiries.png"/>
          <p:cNvPicPr>
            <a:picLocks noChangeAspect="1"/>
          </p:cNvPicPr>
          <p:nvPr/>
        </p:nvPicPr>
        <p:blipFill>
          <a:blip r:embed="rId4"/>
          <a:stretch>
            <a:fillRect/>
          </a:stretch>
        </p:blipFill>
        <p:spPr>
          <a:xfrm>
            <a:off x="739622" y="340679"/>
            <a:ext cx="1812595" cy="2128201"/>
          </a:xfrm>
          <a:prstGeom prst="rect">
            <a:avLst/>
          </a:prstGeom>
        </p:spPr>
      </p:pic>
      <p:cxnSp>
        <p:nvCxnSpPr>
          <p:cNvPr id="6" name="Connector 5"/>
          <p:cNvCxnSpPr/>
          <p:nvPr/>
        </p:nvCxnSpPr>
        <p:spPr>
          <a:xfrm>
            <a:off x="548640" y="4206240"/>
            <a:ext cx="1097280" cy="0"/>
          </a:xfrm>
          <a:prstGeom prst="line">
            <a:avLst/>
          </a:prstGeom>
          <a:ln w="25400">
            <a:solidFill>
              <a:srgbClr val="005C2B"/>
            </a:solidFill>
          </a:ln>
          <a:effectLst/>
        </p:spPr>
      </p:cxnSp>
      <p:sp>
        <p:nvSpPr>
          <p:cNvPr id="8" name="TextBox 7"/>
          <p:cNvSpPr txBox="1"/>
          <p:nvPr/>
        </p:nvSpPr>
        <p:spPr>
          <a:xfrm>
            <a:off x="548640" y="5897880"/>
            <a:ext cx="3149498" cy="313932"/>
          </a:xfrm>
          <a:prstGeom prst="rect">
            <a:avLst/>
          </a:prstGeom>
          <a:noFill/>
        </p:spPr>
        <p:txBody>
          <a:bodyPr wrap="square" lIns="0" tIns="18288" rIns="0" bIns="18288" anchor="t">
            <a:spAutoFit/>
          </a:bodyPr>
          <a:lstStyle/>
          <a:p>
            <a:pPr algn="l"/>
            <a:r>
              <a:rPr lang="fr-FR" dirty="0">
                <a:solidFill>
                  <a:srgbClr val="555555"/>
                </a:solidFill>
                <a:latin typeface="Public Sans" pitchFamily="34" charset="0"/>
              </a:rPr>
              <a:t>OUAGDOUGOU 23/10/2026</a:t>
            </a:r>
            <a:endParaRPr sz="1800" b="0" dirty="0">
              <a:solidFill>
                <a:srgbClr val="555555"/>
              </a:solidFill>
              <a:latin typeface="Public Sans" pitchFamily="34" charset="0"/>
            </a:endParaRP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5" name="TextBox 4">
            <a:extLst>
              <a:ext uri="{FF2B5EF4-FFF2-40B4-BE49-F238E27FC236}">
                <a16:creationId xmlns:a16="http://schemas.microsoft.com/office/drawing/2014/main" id="{56CDE7D7-599F-6E35-A2B3-27C8771A5B6D}"/>
              </a:ext>
            </a:extLst>
          </p:cNvPr>
          <p:cNvSpPr txBox="1"/>
          <p:nvPr/>
        </p:nvSpPr>
        <p:spPr>
          <a:xfrm>
            <a:off x="396387" y="2712720"/>
            <a:ext cx="5852013" cy="1021818"/>
          </a:xfrm>
          <a:prstGeom prst="rect">
            <a:avLst/>
          </a:prstGeom>
          <a:noFill/>
        </p:spPr>
        <p:txBody>
          <a:bodyPr wrap="square" lIns="0" tIns="18288" rIns="0" bIns="18288" anchor="t">
            <a:spAutoFit/>
          </a:bodyPr>
          <a:lstStyle/>
          <a:p>
            <a:pPr algn="ctr"/>
            <a:r>
              <a:rPr sz="3200" b="1" dirty="0">
                <a:solidFill>
                  <a:srgbClr val="111111"/>
                </a:solidFill>
                <a:latin typeface="Public Sans" pitchFamily="34" charset="0"/>
              </a:rPr>
              <a:t>Raaga,</a:t>
            </a:r>
          </a:p>
          <a:p>
            <a:pPr algn="ctr"/>
            <a:r>
              <a:rPr sz="3200" b="1" dirty="0">
                <a:solidFill>
                  <a:srgbClr val="111111"/>
                </a:solidFill>
                <a:latin typeface="Public Sans" pitchFamily="34" charset="0"/>
              </a:rPr>
              <a:t>aperçu de la </a:t>
            </a:r>
            <a:r>
              <a:rPr sz="3200" b="1" dirty="0" err="1">
                <a:solidFill>
                  <a:srgbClr val="111111"/>
                </a:solidFill>
                <a:latin typeface="Public Sans" pitchFamily="34" charset="0"/>
              </a:rPr>
              <a:t>plateforme</a:t>
            </a:r>
            <a:endParaRPr sz="3200" b="1" dirty="0">
              <a:solidFill>
                <a:srgbClr val="111111"/>
              </a:solidFill>
              <a:latin typeface="Public Sans"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Contexte</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Contexte et enjeux</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La plateforme répond à quatre objectifs, traduits dans ses règles.</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2</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10515600" cy="2246769"/>
          </a:xfrm>
          <a:prstGeom prst="rect">
            <a:avLst/>
          </a:prstGeom>
          <a:noFill/>
        </p:spPr>
        <p:txBody>
          <a:bodyPr wrap="square" lIns="0" rIns="0">
            <a:spAutoFit/>
          </a:bodyPr>
          <a:lstStyle/>
          <a:p>
            <a:pPr marL="274320" indent="-274320">
              <a:spcAft>
                <a:spcPts val="1200"/>
              </a:spcAft>
              <a:buFont typeface="Public Sans" pitchFamily="34" charset="0"/>
              <a:buChar char="•"/>
            </a:pPr>
            <a:r>
              <a:rPr lang="fr-FR" sz="2000" dirty="0">
                <a:solidFill>
                  <a:srgbClr val="111111"/>
                </a:solidFill>
                <a:latin typeface="Public Sans" pitchFamily="34" charset="0"/>
              </a:rPr>
              <a:t>Des</a:t>
            </a:r>
            <a:r>
              <a:rPr sz="2000" dirty="0">
                <a:solidFill>
                  <a:srgbClr val="111111"/>
                </a:solidFill>
                <a:latin typeface="Public Sans" pitchFamily="34" charset="0"/>
              </a:rPr>
              <a:t> </a:t>
            </a:r>
            <a:r>
              <a:rPr sz="2000" dirty="0" err="1">
                <a:solidFill>
                  <a:srgbClr val="111111"/>
                </a:solidFill>
                <a:latin typeface="Public Sans" pitchFamily="34" charset="0"/>
              </a:rPr>
              <a:t>marché</a:t>
            </a:r>
            <a:r>
              <a:rPr lang="fr-FR" sz="2000" dirty="0">
                <a:solidFill>
                  <a:srgbClr val="111111"/>
                </a:solidFill>
                <a:latin typeface="Public Sans" pitchFamily="34" charset="0"/>
              </a:rPr>
              <a:t>s</a:t>
            </a:r>
            <a:r>
              <a:rPr sz="2000" dirty="0">
                <a:solidFill>
                  <a:srgbClr val="111111"/>
                </a:solidFill>
                <a:latin typeface="Public Sans" pitchFamily="34" charset="0"/>
              </a:rPr>
              <a:t> </a:t>
            </a:r>
            <a:r>
              <a:rPr sz="2000" dirty="0" err="1">
                <a:solidFill>
                  <a:srgbClr val="111111"/>
                </a:solidFill>
                <a:latin typeface="Public Sans" pitchFamily="34" charset="0"/>
              </a:rPr>
              <a:t>moderne</a:t>
            </a:r>
            <a:r>
              <a:rPr lang="fr-FR" sz="2000" dirty="0">
                <a:solidFill>
                  <a:srgbClr val="111111"/>
                </a:solidFill>
                <a:latin typeface="Public Sans" pitchFamily="34" charset="0"/>
              </a:rPr>
              <a:t>s</a:t>
            </a:r>
            <a:r>
              <a:rPr sz="2000" dirty="0">
                <a:solidFill>
                  <a:srgbClr val="111111"/>
                </a:solidFill>
                <a:latin typeface="Public Sans" pitchFamily="34" charset="0"/>
              </a:rPr>
              <a:t> </a:t>
            </a:r>
            <a:r>
              <a:rPr sz="2000" dirty="0" err="1">
                <a:solidFill>
                  <a:srgbClr val="111111"/>
                </a:solidFill>
                <a:latin typeface="Public Sans" pitchFamily="34" charset="0"/>
              </a:rPr>
              <a:t>en</a:t>
            </a:r>
            <a:r>
              <a:rPr sz="2000" dirty="0">
                <a:solidFill>
                  <a:srgbClr val="111111"/>
                </a:solidFill>
                <a:latin typeface="Public Sans" pitchFamily="34" charset="0"/>
              </a:rPr>
              <a:t> construction, avec des boutiques à </a:t>
            </a:r>
            <a:r>
              <a:rPr sz="2000" dirty="0" err="1">
                <a:solidFill>
                  <a:srgbClr val="111111"/>
                </a:solidFill>
                <a:latin typeface="Public Sans" pitchFamily="34" charset="0"/>
              </a:rPr>
              <a:t>attribuer</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err="1">
                <a:solidFill>
                  <a:srgbClr val="111111"/>
                </a:solidFill>
                <a:latin typeface="Public Sans" pitchFamily="34" charset="0"/>
              </a:rPr>
              <a:t>Associer</a:t>
            </a:r>
            <a:r>
              <a:rPr sz="2000" dirty="0">
                <a:solidFill>
                  <a:srgbClr val="111111"/>
                </a:solidFill>
                <a:latin typeface="Public Sans" pitchFamily="34" charset="0"/>
              </a:rPr>
              <a:t> les </a:t>
            </a:r>
            <a:r>
              <a:rPr sz="2000" dirty="0" err="1">
                <a:solidFill>
                  <a:srgbClr val="111111"/>
                </a:solidFill>
                <a:latin typeface="Public Sans" pitchFamily="34" charset="0"/>
              </a:rPr>
              <a:t>futurs</a:t>
            </a:r>
            <a:r>
              <a:rPr sz="2000" dirty="0">
                <a:solidFill>
                  <a:srgbClr val="111111"/>
                </a:solidFill>
                <a:latin typeface="Public Sans" pitchFamily="34" charset="0"/>
              </a:rPr>
              <a:t> occupants et les </a:t>
            </a:r>
            <a:r>
              <a:rPr sz="2000" dirty="0" err="1">
                <a:solidFill>
                  <a:srgbClr val="111111"/>
                </a:solidFill>
                <a:latin typeface="Public Sans" pitchFamily="34" charset="0"/>
              </a:rPr>
              <a:t>citoyens</a:t>
            </a:r>
            <a:r>
              <a:rPr sz="2000" dirty="0">
                <a:solidFill>
                  <a:srgbClr val="111111"/>
                </a:solidFill>
                <a:latin typeface="Public Sans" pitchFamily="34" charset="0"/>
              </a:rPr>
              <a:t> au </a:t>
            </a:r>
            <a:r>
              <a:rPr sz="2000" dirty="0" err="1">
                <a:solidFill>
                  <a:srgbClr val="111111"/>
                </a:solidFill>
                <a:latin typeface="Public Sans" pitchFamily="34" charset="0"/>
              </a:rPr>
              <a:t>projet</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a:solidFill>
                  <a:srgbClr val="111111"/>
                </a:solidFill>
                <a:latin typeface="Public Sans" pitchFamily="34" charset="0"/>
              </a:rPr>
              <a:t>Une attribution </a:t>
            </a:r>
            <a:r>
              <a:rPr sz="2000" dirty="0" err="1">
                <a:solidFill>
                  <a:srgbClr val="111111"/>
                </a:solidFill>
                <a:latin typeface="Public Sans" pitchFamily="34" charset="0"/>
              </a:rPr>
              <a:t>équitable</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a:solidFill>
                  <a:srgbClr val="111111"/>
                </a:solidFill>
                <a:latin typeface="Public Sans" pitchFamily="34" charset="0"/>
              </a:rPr>
              <a:t>La transparence des </a:t>
            </a:r>
            <a:r>
              <a:rPr sz="2000" dirty="0" err="1">
                <a:solidFill>
                  <a:srgbClr val="111111"/>
                </a:solidFill>
                <a:latin typeface="Public Sans" pitchFamily="34" charset="0"/>
              </a:rPr>
              <a:t>opérations</a:t>
            </a:r>
            <a:r>
              <a:rPr sz="2000" dirty="0">
                <a:solidFill>
                  <a:srgbClr val="111111"/>
                </a:solidFill>
                <a:latin typeface="Public Sans" pitchFamily="34" charset="0"/>
              </a:rPr>
              <a:t> et la </a:t>
            </a:r>
            <a:r>
              <a:rPr sz="2000" dirty="0" err="1">
                <a:solidFill>
                  <a:srgbClr val="111111"/>
                </a:solidFill>
                <a:latin typeface="Public Sans" pitchFamily="34" charset="0"/>
              </a:rPr>
              <a:t>traçabilité</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a:solidFill>
                  <a:srgbClr val="111111"/>
                </a:solidFill>
                <a:latin typeface="Public Sans" pitchFamily="34" charset="0"/>
              </a:rPr>
              <a:t>Une protection </a:t>
            </a:r>
            <a:r>
              <a:rPr sz="2000" dirty="0" err="1">
                <a:solidFill>
                  <a:srgbClr val="111111"/>
                </a:solidFill>
                <a:latin typeface="Public Sans" pitchFamily="34" charset="0"/>
              </a:rPr>
              <a:t>contre</a:t>
            </a:r>
            <a:r>
              <a:rPr sz="2000" dirty="0">
                <a:solidFill>
                  <a:srgbClr val="111111"/>
                </a:solidFill>
                <a:latin typeface="Public Sans" pitchFamily="34" charset="0"/>
              </a:rPr>
              <a:t> la </a:t>
            </a:r>
            <a:r>
              <a:rPr sz="2000" dirty="0" err="1">
                <a:solidFill>
                  <a:srgbClr val="111111"/>
                </a:solidFill>
                <a:latin typeface="Public Sans" pitchFamily="34" charset="0"/>
              </a:rPr>
              <a:t>fraude</a:t>
            </a:r>
            <a:r>
              <a:rPr sz="2000" dirty="0">
                <a:solidFill>
                  <a:srgbClr val="111111"/>
                </a:solidFill>
                <a:latin typeface="Public Sans" pitchFamily="34" charset="0"/>
              </a:rPr>
              <a:t> et les </a:t>
            </a:r>
            <a:r>
              <a:rPr sz="2000" dirty="0" err="1">
                <a:solidFill>
                  <a:srgbClr val="111111"/>
                </a:solidFill>
                <a:latin typeface="Public Sans" pitchFamily="34" charset="0"/>
              </a:rPr>
              <a:t>intermédiaires</a:t>
            </a:r>
            <a:endParaRPr sz="2000" dirty="0">
              <a:solidFill>
                <a:srgbClr val="111111"/>
              </a:solidFill>
              <a:latin typeface="Public Sans"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Contexte</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Le périmètre : deux démarches distinctes</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La plateforme porte deux démarches qui ne se mélangent jamais.</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3</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5272887" cy="457200"/>
          </a:xfrm>
          <a:prstGeom prst="rect">
            <a:avLst/>
          </a:prstGeom>
          <a:noFill/>
        </p:spPr>
        <p:txBody>
          <a:bodyPr wrap="square" lIns="0" tIns="18288" rIns="0" bIns="18288" anchor="t">
            <a:spAutoFit/>
          </a:bodyPr>
          <a:lstStyle/>
          <a:p>
            <a:pPr algn="l"/>
            <a:r>
              <a:rPr sz="2000" b="1">
                <a:solidFill>
                  <a:srgbClr val="111111"/>
                </a:solidFill>
                <a:latin typeface="Public Sans" pitchFamily="34" charset="0"/>
              </a:rPr>
              <a:t>Réserver une boutique</a:t>
            </a:r>
          </a:p>
        </p:txBody>
      </p:sp>
      <p:sp>
        <p:nvSpPr>
          <p:cNvPr id="13" name="TextBox 12"/>
          <p:cNvSpPr txBox="1"/>
          <p:nvPr/>
        </p:nvSpPr>
        <p:spPr>
          <a:xfrm>
            <a:off x="548640" y="2743200"/>
            <a:ext cx="5272887" cy="1828800"/>
          </a:xfrm>
          <a:prstGeom prst="rect">
            <a:avLst/>
          </a:prstGeom>
          <a:noFill/>
        </p:spPr>
        <p:txBody>
          <a:bodyPr wrap="square" lIns="0" rIns="0">
            <a:spAutoFit/>
          </a:bodyPr>
          <a:lstStyle/>
          <a:p>
            <a:pPr marL="274320" indent="-274320">
              <a:spcAft>
                <a:spcPts val="1200"/>
              </a:spcAft>
              <a:buFont typeface="Public Sans" pitchFamily="34" charset="0"/>
              <a:buChar char="•"/>
            </a:pPr>
            <a:r>
              <a:rPr sz="1800">
                <a:solidFill>
                  <a:srgbClr val="111111"/>
                </a:solidFill>
                <a:latin typeface="Public Sans" pitchFamily="34" charset="0"/>
              </a:rPr>
              <a:t>Choisir un emplacement, payer la caution puis l’avance</a:t>
            </a:r>
          </a:p>
          <a:p>
            <a:pPr marL="274320" indent="-274320">
              <a:spcAft>
                <a:spcPts val="1200"/>
              </a:spcAft>
              <a:buFont typeface="Public Sans" pitchFamily="34" charset="0"/>
              <a:buChar char="•"/>
            </a:pPr>
            <a:r>
              <a:rPr sz="1800">
                <a:solidFill>
                  <a:srgbClr val="111111"/>
                </a:solidFill>
                <a:latin typeface="Public Sans" pitchFamily="34" charset="0"/>
              </a:rPr>
              <a:t>Signer le contrat et recevoir sa carte commerçant</a:t>
            </a:r>
          </a:p>
        </p:txBody>
      </p:sp>
      <p:sp>
        <p:nvSpPr>
          <p:cNvPr id="14" name="TextBox 13"/>
          <p:cNvSpPr txBox="1"/>
          <p:nvPr/>
        </p:nvSpPr>
        <p:spPr>
          <a:xfrm>
            <a:off x="6370167" y="2148840"/>
            <a:ext cx="5272887" cy="457200"/>
          </a:xfrm>
          <a:prstGeom prst="rect">
            <a:avLst/>
          </a:prstGeom>
          <a:noFill/>
        </p:spPr>
        <p:txBody>
          <a:bodyPr wrap="square" lIns="0" tIns="18288" rIns="0" bIns="18288" anchor="t">
            <a:spAutoFit/>
          </a:bodyPr>
          <a:lstStyle/>
          <a:p>
            <a:pPr algn="l"/>
            <a:r>
              <a:rPr sz="2000" b="1">
                <a:solidFill>
                  <a:srgbClr val="111111"/>
                </a:solidFill>
                <a:latin typeface="Public Sans" pitchFamily="34" charset="0"/>
              </a:rPr>
              <a:t>Devenir actionnaire avec RAAGA Invest</a:t>
            </a:r>
          </a:p>
        </p:txBody>
      </p:sp>
      <p:sp>
        <p:nvSpPr>
          <p:cNvPr id="15" name="TextBox 14"/>
          <p:cNvSpPr txBox="1"/>
          <p:nvPr/>
        </p:nvSpPr>
        <p:spPr>
          <a:xfrm>
            <a:off x="6370167" y="2743200"/>
            <a:ext cx="5272887" cy="1828800"/>
          </a:xfrm>
          <a:prstGeom prst="rect">
            <a:avLst/>
          </a:prstGeom>
          <a:noFill/>
        </p:spPr>
        <p:txBody>
          <a:bodyPr wrap="square" lIns="0" rIns="0">
            <a:spAutoFit/>
          </a:bodyPr>
          <a:lstStyle/>
          <a:p>
            <a:pPr marL="274320" indent="-274320">
              <a:spcAft>
                <a:spcPts val="1200"/>
              </a:spcAft>
              <a:buFont typeface="Public Sans" pitchFamily="34" charset="0"/>
              <a:buChar char="•"/>
            </a:pPr>
            <a:r>
              <a:rPr sz="1800">
                <a:solidFill>
                  <a:srgbClr val="111111"/>
                </a:solidFill>
                <a:latin typeface="Public Sans" pitchFamily="34" charset="0"/>
              </a:rPr>
              <a:t>Acheter des actions du marché</a:t>
            </a:r>
          </a:p>
          <a:p>
            <a:pPr marL="274320" indent="-274320">
              <a:spcAft>
                <a:spcPts val="1200"/>
              </a:spcAft>
              <a:buFont typeface="Public Sans" pitchFamily="34" charset="0"/>
              <a:buChar char="•"/>
            </a:pPr>
            <a:r>
              <a:rPr sz="1800">
                <a:solidFill>
                  <a:srgbClr val="111111"/>
                </a:solidFill>
                <a:latin typeface="Public Sans" pitchFamily="34" charset="0"/>
              </a:rPr>
              <a:t>Recevoir une attestation et percevoir les dividendes</a:t>
            </a:r>
          </a:p>
        </p:txBody>
      </p:sp>
      <p:cxnSp>
        <p:nvCxnSpPr>
          <p:cNvPr id="16" name="Connector 15"/>
          <p:cNvCxnSpPr/>
          <p:nvPr/>
        </p:nvCxnSpPr>
        <p:spPr>
          <a:xfrm>
            <a:off x="6095847" y="2148840"/>
            <a:ext cx="0" cy="2468880"/>
          </a:xfrm>
          <a:prstGeom prst="line">
            <a:avLst/>
          </a:prstGeom>
          <a:ln w="12700">
            <a:solidFill>
              <a:srgbClr val="D9D9D9"/>
            </a:solidFill>
          </a:ln>
          <a:effectLst/>
        </p:spPr>
      </p:cxnSp>
      <p:cxnSp>
        <p:nvCxnSpPr>
          <p:cNvPr id="17" name="Connector 16"/>
          <p:cNvCxnSpPr/>
          <p:nvPr/>
        </p:nvCxnSpPr>
        <p:spPr>
          <a:xfrm>
            <a:off x="548640" y="4892040"/>
            <a:ext cx="11094415" cy="0"/>
          </a:xfrm>
          <a:prstGeom prst="line">
            <a:avLst/>
          </a:prstGeom>
          <a:ln w="12700">
            <a:solidFill>
              <a:srgbClr val="D9D9D9"/>
            </a:solidFill>
          </a:ln>
          <a:effectLst/>
        </p:spPr>
      </p:cxnSp>
      <p:sp>
        <p:nvSpPr>
          <p:cNvPr id="18" name="TextBox 17"/>
          <p:cNvSpPr txBox="1"/>
          <p:nvPr/>
        </p:nvSpPr>
        <p:spPr>
          <a:xfrm>
            <a:off x="548640" y="5029200"/>
            <a:ext cx="11094415" cy="457200"/>
          </a:xfrm>
          <a:prstGeom prst="rect">
            <a:avLst/>
          </a:prstGeom>
          <a:noFill/>
        </p:spPr>
        <p:txBody>
          <a:bodyPr wrap="square" lIns="0" tIns="18288" rIns="0" bIns="18288" anchor="t">
            <a:spAutoFit/>
          </a:bodyPr>
          <a:lstStyle/>
          <a:p>
            <a:pPr algn="l"/>
            <a:r>
              <a:rPr sz="2000" b="1">
                <a:solidFill>
                  <a:srgbClr val="111111"/>
                </a:solidFill>
                <a:latin typeface="Public Sans" pitchFamily="34" charset="0"/>
              </a:rPr>
              <a:t>L’une ne donne aucun droit sur l’autre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Fonctionnement</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Qui intervient</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Au back-office, chaque profil n’a que les droits de son rôle.</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4</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03120"/>
            <a:ext cx="11094415" cy="36576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Public : </a:t>
            </a:r>
            <a:r>
              <a:rPr sz="1800" b="0">
                <a:solidFill>
                  <a:srgbClr val="111111"/>
                </a:solidFill>
                <a:latin typeface="Public Sans" pitchFamily="34" charset="0"/>
              </a:rPr>
              <a:t>citoyens et entreprises, compte, réservation, souscription, suivi dans « Mon espace »</a:t>
            </a:r>
          </a:p>
        </p:txBody>
      </p:sp>
      <p:graphicFrame>
        <p:nvGraphicFramePr>
          <p:cNvPr id="13" name="Table 12"/>
          <p:cNvGraphicFramePr>
            <a:graphicFrameLocks noGrp="1"/>
          </p:cNvGraphicFramePr>
          <p:nvPr/>
        </p:nvGraphicFramePr>
        <p:xfrm>
          <a:off x="548640" y="2560320"/>
          <a:ext cx="11094415" cy="2926080"/>
        </p:xfrm>
        <a:graphic>
          <a:graphicData uri="http://schemas.openxmlformats.org/drawingml/2006/table">
            <a:tbl>
              <a:tblPr>
                <a:tableStyleId>{5940675A-B579-460E-94D1-54222C63F5DA}</a:tableStyleId>
              </a:tblPr>
              <a:tblGrid>
                <a:gridCol w="3931920">
                  <a:extLst>
                    <a:ext uri="{9D8B030D-6E8A-4147-A177-3AD203B41FA5}">
                      <a16:colId xmlns:a16="http://schemas.microsoft.com/office/drawing/2014/main" val="20000"/>
                    </a:ext>
                  </a:extLst>
                </a:gridCol>
                <a:gridCol w="7162495">
                  <a:extLst>
                    <a:ext uri="{9D8B030D-6E8A-4147-A177-3AD203B41FA5}">
                      <a16:colId xmlns:a16="http://schemas.microsoft.com/office/drawing/2014/main" val="20001"/>
                    </a:ext>
                  </a:extLst>
                </a:gridCol>
              </a:tblGrid>
              <a:tr h="365760">
                <a:tc>
                  <a:txBody>
                    <a:bodyPr/>
                    <a:lstStyle/>
                    <a:p>
                      <a:r>
                        <a:rPr sz="1600" b="1">
                          <a:solidFill>
                            <a:srgbClr val="111111"/>
                          </a:solidFill>
                          <a:latin typeface="Public Sans" pitchFamily="34" charset="0"/>
                        </a:rPr>
                        <a:t>Profil</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1">
                          <a:solidFill>
                            <a:srgbClr val="111111"/>
                          </a:solidFill>
                          <a:latin typeface="Public Sans" pitchFamily="34" charset="0"/>
                        </a:rPr>
                        <a:t>Rôle</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0"/>
                  </a:ext>
                </a:extLst>
              </a:tr>
              <a:tr h="365760">
                <a:tc>
                  <a:txBody>
                    <a:bodyPr/>
                    <a:lstStyle/>
                    <a:p>
                      <a:r>
                        <a:rPr sz="1600" b="1">
                          <a:solidFill>
                            <a:srgbClr val="111111"/>
                          </a:solidFill>
                          <a:latin typeface="Public Sans" pitchFamily="34" charset="0"/>
                        </a:rPr>
                        <a:t>Super administrateur</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Comptes du back-office et sécurité, sans décision financière</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600" b="1">
                          <a:solidFill>
                            <a:srgbClr val="111111"/>
                          </a:solidFill>
                          <a:latin typeface="Public Sans" pitchFamily="34" charset="0"/>
                        </a:rPr>
                        <a:t>Administrateur</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Assistance, contenus du site, vérification d’identité</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2"/>
                  </a:ext>
                </a:extLst>
              </a:tr>
              <a:tr h="365760">
                <a:tc>
                  <a:txBody>
                    <a:bodyPr/>
                    <a:lstStyle/>
                    <a:p>
                      <a:r>
                        <a:rPr sz="1600" b="1">
                          <a:solidFill>
                            <a:srgbClr val="111111"/>
                          </a:solidFill>
                          <a:latin typeface="Public Sans" pitchFamily="34" charset="0"/>
                        </a:rPr>
                        <a:t>Régulateur</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Saisit et soumet les paramètres, ne confirme jamais</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3"/>
                  </a:ext>
                </a:extLst>
              </a:tr>
              <a:tr h="365760">
                <a:tc>
                  <a:txBody>
                    <a:bodyPr/>
                    <a:lstStyle/>
                    <a:p>
                      <a:r>
                        <a:rPr sz="1600" b="1">
                          <a:solidFill>
                            <a:srgbClr val="111111"/>
                          </a:solidFill>
                          <a:latin typeface="Public Sans" pitchFamily="34" charset="0"/>
                        </a:rPr>
                        <a:t>Validateur</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Confirme ou rejette, ouvre et clôture, attribue</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4"/>
                  </a:ext>
                </a:extLst>
              </a:tr>
              <a:tr h="365760">
                <a:tc>
                  <a:txBody>
                    <a:bodyPr/>
                    <a:lstStyle/>
                    <a:p>
                      <a:r>
                        <a:rPr sz="1600" b="1">
                          <a:solidFill>
                            <a:srgbClr val="111111"/>
                          </a:solidFill>
                          <a:latin typeface="Public Sans" pitchFamily="34" charset="0"/>
                        </a:rPr>
                        <a:t>Gestionnaire des sites et boutiques</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Enregistre les sites et les boutiques, sans montant</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5"/>
                  </a:ext>
                </a:extLst>
              </a:tr>
              <a:tr h="365760">
                <a:tc>
                  <a:txBody>
                    <a:bodyPr/>
                    <a:lstStyle/>
                    <a:p>
                      <a:r>
                        <a:rPr sz="1600" b="1">
                          <a:solidFill>
                            <a:srgbClr val="111111"/>
                          </a:solidFill>
                          <a:latin typeface="Public Sans" pitchFamily="34" charset="0"/>
                        </a:rPr>
                        <a:t>Contrôleur des paiements</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Contrôle les preuves de paiement, suit les remboursements</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6"/>
                  </a:ext>
                </a:extLst>
              </a:tr>
              <a:tr h="365760">
                <a:tc>
                  <a:txBody>
                    <a:bodyPr/>
                    <a:lstStyle/>
                    <a:p>
                      <a:r>
                        <a:rPr sz="1600" b="1">
                          <a:solidFill>
                            <a:srgbClr val="111111"/>
                          </a:solidFill>
                          <a:latin typeface="Public Sans" pitchFamily="34" charset="0"/>
                        </a:rPr>
                        <a:t>Agent de guichet</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tc>
                  <a:txBody>
                    <a:bodyPr/>
                    <a:lstStyle/>
                    <a:p>
                      <a:r>
                        <a:rPr sz="1600" b="0">
                          <a:solidFill>
                            <a:srgbClr val="111111"/>
                          </a:solidFill>
                          <a:latin typeface="Public Sans" pitchFamily="34" charset="0"/>
                        </a:rPr>
                        <a:t>Vérifie et imprime les cartes, accueille au guichet</a:t>
                      </a:r>
                    </a:p>
                  </a:txBody>
                  <a:tcPr marT="36576" marB="36576" anchor="ctr">
                    <a:lnL w="9525" cmpd="sng">
                      <a:solidFill>
                        <a:srgbClr val="D9D9D9"/>
                      </a:solidFill>
                    </a:lnL>
                    <a:lnR w="9525" cmpd="sng">
                      <a:solidFill>
                        <a:srgbClr val="D9D9D9"/>
                      </a:solidFill>
                    </a:lnR>
                    <a:lnT w="9525" cmpd="sng">
                      <a:solidFill>
                        <a:srgbClr val="D9D9D9"/>
                      </a:solidFill>
                    </a:lnT>
                    <a:lnB w="9525" cmpd="sng">
                      <a:solidFill>
                        <a:srgbClr val="D9D9D9"/>
                      </a:solidFill>
                    </a:lnB>
                    <a:solidFill>
                      <a:srgbClr val="FFFFFF"/>
                    </a:solidFill>
                  </a:tcPr>
                </a:tc>
                <a:extLst>
                  <a:ext uri="{0D108BD9-81ED-4DB2-BD59-A6C34878D82A}">
                    <a16:rowId xmlns:a16="http://schemas.microsoft.com/office/drawing/2014/main" val="10007"/>
                  </a:ext>
                </a:extLst>
              </a:tr>
            </a:tbl>
          </a:graphicData>
        </a:graphic>
      </p:graphicFrame>
      <p:sp>
        <p:nvSpPr>
          <p:cNvPr id="14" name="TextBox 13"/>
          <p:cNvSpPr txBox="1"/>
          <p:nvPr/>
        </p:nvSpPr>
        <p:spPr>
          <a:xfrm>
            <a:off x="548640" y="5760720"/>
            <a:ext cx="11094415" cy="36576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Principe des quatre yeux : </a:t>
            </a:r>
            <a:r>
              <a:rPr sz="1800" b="0">
                <a:solidFill>
                  <a:srgbClr val="111111"/>
                </a:solidFill>
                <a:latin typeface="Public Sans" pitchFamily="34" charset="0"/>
              </a:rPr>
              <a:t>l’un saisit, un autre valide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Fonctionnement</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Le parcours d’une réservation</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La confirmation crée une pré-réservation ; le paiement de la caution la transforme en réservation.</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5</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Rectangle 11"/>
          <p:cNvSpPr/>
          <p:nvPr/>
        </p:nvSpPr>
        <p:spPr>
          <a:xfrm>
            <a:off x="548640"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Compte et identité</a:t>
            </a:r>
          </a:p>
        </p:txBody>
      </p:sp>
      <p:cxnSp>
        <p:nvCxnSpPr>
          <p:cNvPr id="13" name="Connector 12"/>
          <p:cNvCxnSpPr/>
          <p:nvPr/>
        </p:nvCxnSpPr>
        <p:spPr>
          <a:xfrm>
            <a:off x="1910181" y="3337560"/>
            <a:ext cx="237744" cy="0"/>
          </a:xfrm>
          <a:prstGeom prst="line">
            <a:avLst/>
          </a:prstGeom>
          <a:ln w="12700">
            <a:solidFill>
              <a:srgbClr val="111111"/>
            </a:solidFill>
            <a:tailEnd type="triangle" w="med" len="med"/>
          </a:ln>
          <a:effectLst/>
        </p:spPr>
      </p:cxnSp>
      <p:sp>
        <p:nvSpPr>
          <p:cNvPr id="14" name="Rectangle 13"/>
          <p:cNvSpPr/>
          <p:nvPr/>
        </p:nvSpPr>
        <p:spPr>
          <a:xfrm>
            <a:off x="2175357"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Choix sur le plan</a:t>
            </a:r>
          </a:p>
        </p:txBody>
      </p:sp>
      <p:cxnSp>
        <p:nvCxnSpPr>
          <p:cNvPr id="15" name="Connector 14"/>
          <p:cNvCxnSpPr/>
          <p:nvPr/>
        </p:nvCxnSpPr>
        <p:spPr>
          <a:xfrm>
            <a:off x="3536898" y="3337560"/>
            <a:ext cx="237744" cy="0"/>
          </a:xfrm>
          <a:prstGeom prst="line">
            <a:avLst/>
          </a:prstGeom>
          <a:ln w="12700">
            <a:solidFill>
              <a:srgbClr val="111111"/>
            </a:solidFill>
            <a:tailEnd type="triangle" w="med" len="med"/>
          </a:ln>
          <a:effectLst/>
        </p:spPr>
      </p:cxnSp>
      <p:sp>
        <p:nvSpPr>
          <p:cNvPr id="16" name="Rectangle 15"/>
          <p:cNvSpPr/>
          <p:nvPr/>
        </p:nvSpPr>
        <p:spPr>
          <a:xfrm>
            <a:off x="3802074"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Pré-réservation</a:t>
            </a:r>
          </a:p>
        </p:txBody>
      </p:sp>
      <p:cxnSp>
        <p:nvCxnSpPr>
          <p:cNvPr id="17" name="Connector 16"/>
          <p:cNvCxnSpPr/>
          <p:nvPr/>
        </p:nvCxnSpPr>
        <p:spPr>
          <a:xfrm>
            <a:off x="5163615" y="3337560"/>
            <a:ext cx="237744" cy="0"/>
          </a:xfrm>
          <a:prstGeom prst="line">
            <a:avLst/>
          </a:prstGeom>
          <a:ln w="12700">
            <a:solidFill>
              <a:srgbClr val="111111"/>
            </a:solidFill>
            <a:tailEnd type="triangle" w="med" len="med"/>
          </a:ln>
          <a:effectLst/>
        </p:spPr>
      </p:cxnSp>
      <p:sp>
        <p:nvSpPr>
          <p:cNvPr id="18" name="Rectangle 17"/>
          <p:cNvSpPr/>
          <p:nvPr/>
        </p:nvSpPr>
        <p:spPr>
          <a:xfrm>
            <a:off x="5428791"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Caution</a:t>
            </a:r>
          </a:p>
        </p:txBody>
      </p:sp>
      <p:cxnSp>
        <p:nvCxnSpPr>
          <p:cNvPr id="19" name="Connector 18"/>
          <p:cNvCxnSpPr/>
          <p:nvPr/>
        </p:nvCxnSpPr>
        <p:spPr>
          <a:xfrm>
            <a:off x="6790332" y="3337560"/>
            <a:ext cx="237744" cy="0"/>
          </a:xfrm>
          <a:prstGeom prst="line">
            <a:avLst/>
          </a:prstGeom>
          <a:ln w="12700">
            <a:solidFill>
              <a:srgbClr val="111111"/>
            </a:solidFill>
            <a:tailEnd type="triangle" w="med" len="med"/>
          </a:ln>
          <a:effectLst/>
        </p:spPr>
      </p:cxnSp>
      <p:sp>
        <p:nvSpPr>
          <p:cNvPr id="20" name="Rectangle 19"/>
          <p:cNvSpPr/>
          <p:nvPr/>
        </p:nvSpPr>
        <p:spPr>
          <a:xfrm>
            <a:off x="7055508"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Avance</a:t>
            </a:r>
          </a:p>
        </p:txBody>
      </p:sp>
      <p:cxnSp>
        <p:nvCxnSpPr>
          <p:cNvPr id="21" name="Connector 20"/>
          <p:cNvCxnSpPr/>
          <p:nvPr/>
        </p:nvCxnSpPr>
        <p:spPr>
          <a:xfrm>
            <a:off x="8417049" y="3337560"/>
            <a:ext cx="237744" cy="0"/>
          </a:xfrm>
          <a:prstGeom prst="line">
            <a:avLst/>
          </a:prstGeom>
          <a:ln w="12700">
            <a:solidFill>
              <a:srgbClr val="111111"/>
            </a:solidFill>
            <a:tailEnd type="triangle" w="med" len="med"/>
          </a:ln>
          <a:effectLst/>
        </p:spPr>
      </p:cxnSp>
      <p:sp>
        <p:nvSpPr>
          <p:cNvPr id="22" name="Rectangle 21"/>
          <p:cNvSpPr/>
          <p:nvPr/>
        </p:nvSpPr>
        <p:spPr>
          <a:xfrm>
            <a:off x="8682225" y="2743200"/>
            <a:ext cx="1334109" cy="118872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Contrat</a:t>
            </a:r>
          </a:p>
        </p:txBody>
      </p:sp>
      <p:cxnSp>
        <p:nvCxnSpPr>
          <p:cNvPr id="23" name="Connector 22"/>
          <p:cNvCxnSpPr/>
          <p:nvPr/>
        </p:nvCxnSpPr>
        <p:spPr>
          <a:xfrm>
            <a:off x="10043766" y="3337560"/>
            <a:ext cx="237744" cy="0"/>
          </a:xfrm>
          <a:prstGeom prst="line">
            <a:avLst/>
          </a:prstGeom>
          <a:ln w="12700">
            <a:solidFill>
              <a:srgbClr val="111111"/>
            </a:solidFill>
            <a:tailEnd type="triangle" w="med" len="med"/>
          </a:ln>
          <a:effectLst/>
        </p:spPr>
      </p:cxnSp>
      <p:sp>
        <p:nvSpPr>
          <p:cNvPr id="24" name="Rectangle 23"/>
          <p:cNvSpPr/>
          <p:nvPr/>
        </p:nvSpPr>
        <p:spPr>
          <a:xfrm>
            <a:off x="10308942" y="2743200"/>
            <a:ext cx="1334109" cy="1188720"/>
          </a:xfrm>
          <a:prstGeom prst="rect">
            <a:avLst/>
          </a:prstGeom>
          <a:solidFill>
            <a:srgbClr val="005C2B"/>
          </a:solidFill>
          <a:ln w="12700">
            <a:solidFill>
              <a:srgbClr val="005C2B"/>
            </a:solidFill>
          </a:ln>
          <a:effectLst/>
        </p:spPr>
        <p:txBody>
          <a:bodyPr wrap="square" lIns="73152" tIns="36576" rIns="73152" bIns="36576" rtlCol="0" anchor="ctr"/>
          <a:lstStyle/>
          <a:p>
            <a:pPr algn="ctr"/>
            <a:r>
              <a:rPr sz="1600" b="1">
                <a:solidFill>
                  <a:srgbClr val="FFFFFF"/>
                </a:solidFill>
                <a:latin typeface="Public Sans" pitchFamily="34" charset="0"/>
              </a:rPr>
              <a:t>Attribution</a:t>
            </a:r>
          </a:p>
        </p:txBody>
      </p:sp>
      <p:sp>
        <p:nvSpPr>
          <p:cNvPr id="25" name="TextBox 24"/>
          <p:cNvSpPr txBox="1"/>
          <p:nvPr/>
        </p:nvSpPr>
        <p:spPr>
          <a:xfrm>
            <a:off x="548640" y="4343400"/>
            <a:ext cx="11094415" cy="457200"/>
          </a:xfrm>
          <a:prstGeom prst="rect">
            <a:avLst/>
          </a:prstGeom>
          <a:noFill/>
        </p:spPr>
        <p:txBody>
          <a:bodyPr wrap="square" lIns="0" tIns="18288" rIns="0" bIns="18288" anchor="t">
            <a:spAutoFit/>
          </a:bodyPr>
          <a:lstStyle/>
          <a:p>
            <a:pPr algn="l"/>
            <a:r>
              <a:rPr sz="1800" b="0">
                <a:solidFill>
                  <a:srgbClr val="555555"/>
                </a:solidFill>
                <a:latin typeface="Public Sans" pitchFamily="34" charset="0"/>
              </a:rPr>
              <a:t>Chaque étape a son délai, suivi automatiquement par la plateforme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Fonctionnement</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Le plan des boutiques et la tarification</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Le citoyen choisit sur un plan à jour, à des prix fixés selon une grille validée.</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6</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5760720" cy="3931920"/>
          </a:xfrm>
          <a:prstGeom prst="rect">
            <a:avLst/>
          </a:prstGeom>
          <a:noFill/>
        </p:spPr>
        <p:txBody>
          <a:bodyPr wrap="square" lIns="0" rIns="0">
            <a:spAutoFit/>
          </a:bodyPr>
          <a:lstStyle/>
          <a:p>
            <a:pPr marL="274320" indent="-274320">
              <a:spcAft>
                <a:spcPts val="1000"/>
              </a:spcAft>
              <a:buFont typeface="Public Sans" pitchFamily="34" charset="0"/>
              <a:buChar char="•"/>
            </a:pPr>
            <a:r>
              <a:rPr sz="1800">
                <a:solidFill>
                  <a:srgbClr val="111111"/>
                </a:solidFill>
                <a:latin typeface="Public Sans" pitchFamily="34" charset="0"/>
              </a:rPr>
              <a:t>Un plan par niveau et par bloc, avec le pôle boucherie-poissonnerie</a:t>
            </a:r>
          </a:p>
          <a:p>
            <a:pPr marL="274320" indent="-274320">
              <a:spcAft>
                <a:spcPts val="1000"/>
              </a:spcAft>
              <a:buFont typeface="Public Sans" pitchFamily="34" charset="0"/>
              <a:buChar char="•"/>
            </a:pPr>
            <a:r>
              <a:rPr sz="1800">
                <a:solidFill>
                  <a:srgbClr val="111111"/>
                </a:solidFill>
                <a:latin typeface="Public Sans" pitchFamily="34" charset="0"/>
              </a:rPr>
              <a:t>Chaque emplacement affiche son statut : disponible, réservé ou attribué</a:t>
            </a:r>
          </a:p>
          <a:p>
            <a:pPr marL="274320" indent="-274320">
              <a:spcAft>
                <a:spcPts val="1000"/>
              </a:spcAft>
              <a:buFont typeface="Public Sans" pitchFamily="34" charset="0"/>
              <a:buChar char="•"/>
            </a:pPr>
            <a:r>
              <a:rPr sz="1800">
                <a:solidFill>
                  <a:srgbClr val="111111"/>
                </a:solidFill>
                <a:latin typeface="Public Sans" pitchFamily="34" charset="0"/>
              </a:rPr>
              <a:t>La grille tarifaire est fixée par le RÉGULATEUR</a:t>
            </a:r>
          </a:p>
          <a:p>
            <a:pPr marL="274320" indent="-274320">
              <a:spcAft>
                <a:spcPts val="1000"/>
              </a:spcAft>
              <a:buFont typeface="Public Sans" pitchFamily="34" charset="0"/>
              <a:buChar char="•"/>
            </a:pPr>
            <a:r>
              <a:rPr sz="1800">
                <a:solidFill>
                  <a:srgbClr val="111111"/>
                </a:solidFill>
                <a:latin typeface="Public Sans" pitchFamily="34" charset="0"/>
              </a:rPr>
              <a:t>Elle ne s’applique qu’après confirmation par le VALIDATEUR</a:t>
            </a:r>
          </a:p>
          <a:p>
            <a:pPr marL="274320" indent="-274320">
              <a:spcAft>
                <a:spcPts val="1000"/>
              </a:spcAft>
              <a:buFont typeface="Public Sans" pitchFamily="34" charset="0"/>
              <a:buChar char="•"/>
            </a:pPr>
            <a:r>
              <a:rPr sz="1800">
                <a:solidFill>
                  <a:srgbClr val="111111"/>
                </a:solidFill>
                <a:latin typeface="Public Sans" pitchFamily="34" charset="0"/>
              </a:rPr>
              <a:t>Loyer, caution et avance sont calculés automatiquement</a:t>
            </a:r>
          </a:p>
        </p:txBody>
      </p:sp>
      <p:cxnSp>
        <p:nvCxnSpPr>
          <p:cNvPr id="13" name="Connector 12"/>
          <p:cNvCxnSpPr/>
          <p:nvPr/>
        </p:nvCxnSpPr>
        <p:spPr>
          <a:xfrm>
            <a:off x="6812280" y="2286000"/>
            <a:ext cx="4785055" cy="0"/>
          </a:xfrm>
          <a:prstGeom prst="line">
            <a:avLst/>
          </a:prstGeom>
          <a:ln w="25400">
            <a:solidFill>
              <a:srgbClr val="111111"/>
            </a:solidFill>
          </a:ln>
          <a:effectLst/>
        </p:spPr>
      </p:cxnSp>
      <p:sp>
        <p:nvSpPr>
          <p:cNvPr id="14" name="Rectangle 13"/>
          <p:cNvSpPr/>
          <p:nvPr/>
        </p:nvSpPr>
        <p:spPr>
          <a:xfrm>
            <a:off x="6949440" y="2395728"/>
            <a:ext cx="4510735" cy="566928"/>
          </a:xfrm>
          <a:prstGeom prst="rect">
            <a:avLst/>
          </a:prstGeom>
          <a:solidFill>
            <a:srgbClr val="FFFFFF"/>
          </a:solidFill>
          <a:ln w="12700">
            <a:solidFill>
              <a:srgbClr val="111111"/>
            </a:solidFill>
          </a:ln>
          <a:effectLst/>
        </p:spPr>
        <p:txBody>
          <a:bodyPr rtlCol="0" anchor="ctr"/>
          <a:lstStyle/>
          <a:p>
            <a:pPr algn="ctr"/>
            <a:endParaRPr/>
          </a:p>
        </p:txBody>
      </p:sp>
      <p:sp>
        <p:nvSpPr>
          <p:cNvPr id="15" name="TextBox 14"/>
          <p:cNvSpPr txBox="1"/>
          <p:nvPr/>
        </p:nvSpPr>
        <p:spPr>
          <a:xfrm>
            <a:off x="7086600" y="2395728"/>
            <a:ext cx="1737360" cy="566928"/>
          </a:xfrm>
          <a:prstGeom prst="rect">
            <a:avLst/>
          </a:prstGeom>
          <a:noFill/>
        </p:spPr>
        <p:txBody>
          <a:bodyPr wrap="square" lIns="0" tIns="18288" rIns="0" bIns="18288" anchor="ctr">
            <a:spAutoFit/>
          </a:bodyPr>
          <a:lstStyle/>
          <a:p>
            <a:pPr algn="l"/>
            <a:r>
              <a:rPr sz="1400" b="1">
                <a:solidFill>
                  <a:srgbClr val="111111"/>
                </a:solidFill>
                <a:latin typeface="Public Sans" pitchFamily="34" charset="0"/>
              </a:rPr>
              <a:t>R+3</a:t>
            </a:r>
          </a:p>
        </p:txBody>
      </p:sp>
      <p:sp>
        <p:nvSpPr>
          <p:cNvPr id="16" name="Rectangle 15"/>
          <p:cNvSpPr/>
          <p:nvPr/>
        </p:nvSpPr>
        <p:spPr>
          <a:xfrm>
            <a:off x="8823959"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17" name="Rectangle 16"/>
          <p:cNvSpPr/>
          <p:nvPr/>
        </p:nvSpPr>
        <p:spPr>
          <a:xfrm>
            <a:off x="9252660"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18" name="Rectangle 17"/>
          <p:cNvSpPr/>
          <p:nvPr/>
        </p:nvSpPr>
        <p:spPr>
          <a:xfrm>
            <a:off x="9681361"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19" name="Rectangle 18"/>
          <p:cNvSpPr/>
          <p:nvPr/>
        </p:nvSpPr>
        <p:spPr>
          <a:xfrm>
            <a:off x="10110063"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0" name="Rectangle 19"/>
          <p:cNvSpPr/>
          <p:nvPr/>
        </p:nvSpPr>
        <p:spPr>
          <a:xfrm>
            <a:off x="10538764"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1" name="Rectangle 20"/>
          <p:cNvSpPr/>
          <p:nvPr/>
        </p:nvSpPr>
        <p:spPr>
          <a:xfrm>
            <a:off x="10967465" y="2523744"/>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2" name="Rectangle 21"/>
          <p:cNvSpPr/>
          <p:nvPr/>
        </p:nvSpPr>
        <p:spPr>
          <a:xfrm>
            <a:off x="6949440" y="2962656"/>
            <a:ext cx="4510735" cy="566928"/>
          </a:xfrm>
          <a:prstGeom prst="rect">
            <a:avLst/>
          </a:prstGeom>
          <a:solidFill>
            <a:srgbClr val="FFFFFF"/>
          </a:solidFill>
          <a:ln w="12700">
            <a:solidFill>
              <a:srgbClr val="111111"/>
            </a:solidFill>
          </a:ln>
          <a:effectLst/>
        </p:spPr>
        <p:txBody>
          <a:bodyPr rtlCol="0" anchor="ctr"/>
          <a:lstStyle/>
          <a:p>
            <a:pPr algn="ctr"/>
            <a:endParaRPr/>
          </a:p>
        </p:txBody>
      </p:sp>
      <p:sp>
        <p:nvSpPr>
          <p:cNvPr id="23" name="TextBox 22"/>
          <p:cNvSpPr txBox="1"/>
          <p:nvPr/>
        </p:nvSpPr>
        <p:spPr>
          <a:xfrm>
            <a:off x="7086600" y="2962656"/>
            <a:ext cx="1737360" cy="566928"/>
          </a:xfrm>
          <a:prstGeom prst="rect">
            <a:avLst/>
          </a:prstGeom>
          <a:noFill/>
        </p:spPr>
        <p:txBody>
          <a:bodyPr wrap="square" lIns="0" tIns="18288" rIns="0" bIns="18288" anchor="ctr">
            <a:spAutoFit/>
          </a:bodyPr>
          <a:lstStyle/>
          <a:p>
            <a:pPr algn="l"/>
            <a:r>
              <a:rPr sz="1400" b="1">
                <a:solidFill>
                  <a:srgbClr val="111111"/>
                </a:solidFill>
                <a:latin typeface="Public Sans" pitchFamily="34" charset="0"/>
              </a:rPr>
              <a:t>R+2</a:t>
            </a:r>
          </a:p>
        </p:txBody>
      </p:sp>
      <p:sp>
        <p:nvSpPr>
          <p:cNvPr id="24" name="Rectangle 23"/>
          <p:cNvSpPr/>
          <p:nvPr/>
        </p:nvSpPr>
        <p:spPr>
          <a:xfrm>
            <a:off x="8823959"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5" name="Rectangle 24"/>
          <p:cNvSpPr/>
          <p:nvPr/>
        </p:nvSpPr>
        <p:spPr>
          <a:xfrm>
            <a:off x="9252660"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6" name="Rectangle 25"/>
          <p:cNvSpPr/>
          <p:nvPr/>
        </p:nvSpPr>
        <p:spPr>
          <a:xfrm>
            <a:off x="9681361"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7" name="Rectangle 26"/>
          <p:cNvSpPr/>
          <p:nvPr/>
        </p:nvSpPr>
        <p:spPr>
          <a:xfrm>
            <a:off x="10110063"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8" name="Rectangle 27"/>
          <p:cNvSpPr/>
          <p:nvPr/>
        </p:nvSpPr>
        <p:spPr>
          <a:xfrm>
            <a:off x="10538764"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29" name="Rectangle 28"/>
          <p:cNvSpPr/>
          <p:nvPr/>
        </p:nvSpPr>
        <p:spPr>
          <a:xfrm>
            <a:off x="10967465" y="3090672"/>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0" name="Rectangle 29"/>
          <p:cNvSpPr/>
          <p:nvPr/>
        </p:nvSpPr>
        <p:spPr>
          <a:xfrm>
            <a:off x="6949440" y="3529584"/>
            <a:ext cx="4510735" cy="566928"/>
          </a:xfrm>
          <a:prstGeom prst="rect">
            <a:avLst/>
          </a:prstGeom>
          <a:solidFill>
            <a:srgbClr val="FFFFFF"/>
          </a:solidFill>
          <a:ln w="12700">
            <a:solidFill>
              <a:srgbClr val="111111"/>
            </a:solidFill>
          </a:ln>
          <a:effectLst/>
        </p:spPr>
        <p:txBody>
          <a:bodyPr rtlCol="0" anchor="ctr"/>
          <a:lstStyle/>
          <a:p>
            <a:pPr algn="ctr"/>
            <a:endParaRPr/>
          </a:p>
        </p:txBody>
      </p:sp>
      <p:sp>
        <p:nvSpPr>
          <p:cNvPr id="31" name="TextBox 30"/>
          <p:cNvSpPr txBox="1"/>
          <p:nvPr/>
        </p:nvSpPr>
        <p:spPr>
          <a:xfrm>
            <a:off x="7086600" y="3529584"/>
            <a:ext cx="1737360" cy="566928"/>
          </a:xfrm>
          <a:prstGeom prst="rect">
            <a:avLst/>
          </a:prstGeom>
          <a:noFill/>
        </p:spPr>
        <p:txBody>
          <a:bodyPr wrap="square" lIns="0" tIns="18288" rIns="0" bIns="18288" anchor="ctr">
            <a:spAutoFit/>
          </a:bodyPr>
          <a:lstStyle/>
          <a:p>
            <a:pPr algn="l"/>
            <a:r>
              <a:rPr sz="1400" b="1">
                <a:solidFill>
                  <a:srgbClr val="111111"/>
                </a:solidFill>
                <a:latin typeface="Public Sans" pitchFamily="34" charset="0"/>
              </a:rPr>
              <a:t>R+1</a:t>
            </a:r>
          </a:p>
        </p:txBody>
      </p:sp>
      <p:sp>
        <p:nvSpPr>
          <p:cNvPr id="32" name="Rectangle 31"/>
          <p:cNvSpPr/>
          <p:nvPr/>
        </p:nvSpPr>
        <p:spPr>
          <a:xfrm>
            <a:off x="8823959"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3" name="Rectangle 32"/>
          <p:cNvSpPr/>
          <p:nvPr/>
        </p:nvSpPr>
        <p:spPr>
          <a:xfrm>
            <a:off x="9252660"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4" name="Rectangle 33"/>
          <p:cNvSpPr/>
          <p:nvPr/>
        </p:nvSpPr>
        <p:spPr>
          <a:xfrm>
            <a:off x="9681361"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5" name="Rectangle 34"/>
          <p:cNvSpPr/>
          <p:nvPr/>
        </p:nvSpPr>
        <p:spPr>
          <a:xfrm>
            <a:off x="10110063"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6" name="Rectangle 35"/>
          <p:cNvSpPr/>
          <p:nvPr/>
        </p:nvSpPr>
        <p:spPr>
          <a:xfrm>
            <a:off x="10538764"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7" name="Rectangle 36"/>
          <p:cNvSpPr/>
          <p:nvPr/>
        </p:nvSpPr>
        <p:spPr>
          <a:xfrm>
            <a:off x="10967465" y="3657600"/>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38" name="Rectangle 37"/>
          <p:cNvSpPr/>
          <p:nvPr/>
        </p:nvSpPr>
        <p:spPr>
          <a:xfrm>
            <a:off x="6949440" y="4096512"/>
            <a:ext cx="4510735" cy="566928"/>
          </a:xfrm>
          <a:prstGeom prst="rect">
            <a:avLst/>
          </a:prstGeom>
          <a:solidFill>
            <a:srgbClr val="FFFFFF"/>
          </a:solidFill>
          <a:ln w="12700">
            <a:solidFill>
              <a:srgbClr val="111111"/>
            </a:solidFill>
          </a:ln>
          <a:effectLst/>
        </p:spPr>
        <p:txBody>
          <a:bodyPr rtlCol="0" anchor="ctr"/>
          <a:lstStyle/>
          <a:p>
            <a:pPr algn="ctr"/>
            <a:endParaRPr/>
          </a:p>
        </p:txBody>
      </p:sp>
      <p:sp>
        <p:nvSpPr>
          <p:cNvPr id="39" name="TextBox 38"/>
          <p:cNvSpPr txBox="1"/>
          <p:nvPr/>
        </p:nvSpPr>
        <p:spPr>
          <a:xfrm>
            <a:off x="7086600" y="4096512"/>
            <a:ext cx="1737360" cy="566928"/>
          </a:xfrm>
          <a:prstGeom prst="rect">
            <a:avLst/>
          </a:prstGeom>
          <a:noFill/>
        </p:spPr>
        <p:txBody>
          <a:bodyPr wrap="square" lIns="0" tIns="18288" rIns="0" bIns="18288" anchor="ctr">
            <a:spAutoFit/>
          </a:bodyPr>
          <a:lstStyle/>
          <a:p>
            <a:pPr algn="l"/>
            <a:r>
              <a:rPr sz="1400" b="1">
                <a:solidFill>
                  <a:srgbClr val="111111"/>
                </a:solidFill>
                <a:latin typeface="Public Sans" pitchFamily="34" charset="0"/>
              </a:rPr>
              <a:t>Rez-de-chaussée</a:t>
            </a:r>
          </a:p>
        </p:txBody>
      </p:sp>
      <p:sp>
        <p:nvSpPr>
          <p:cNvPr id="40" name="Rectangle 39"/>
          <p:cNvSpPr/>
          <p:nvPr/>
        </p:nvSpPr>
        <p:spPr>
          <a:xfrm>
            <a:off x="8823959" y="4224528"/>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41" name="Rectangle 40"/>
          <p:cNvSpPr/>
          <p:nvPr/>
        </p:nvSpPr>
        <p:spPr>
          <a:xfrm>
            <a:off x="9252660" y="4224528"/>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42" name="Rectangle 41"/>
          <p:cNvSpPr/>
          <p:nvPr/>
        </p:nvSpPr>
        <p:spPr>
          <a:xfrm>
            <a:off x="9681361" y="4224528"/>
            <a:ext cx="355549" cy="310896"/>
          </a:xfrm>
          <a:prstGeom prst="rect">
            <a:avLst/>
          </a:prstGeom>
          <a:solidFill>
            <a:srgbClr val="005C2B"/>
          </a:solidFill>
          <a:ln w="9525">
            <a:solidFill>
              <a:srgbClr val="005C2B"/>
            </a:solidFill>
          </a:ln>
          <a:effectLst/>
        </p:spPr>
        <p:txBody>
          <a:bodyPr rtlCol="0" anchor="ctr"/>
          <a:lstStyle/>
          <a:p>
            <a:pPr algn="ctr"/>
            <a:endParaRPr/>
          </a:p>
        </p:txBody>
      </p:sp>
      <p:sp>
        <p:nvSpPr>
          <p:cNvPr id="43" name="Rectangle 42"/>
          <p:cNvSpPr/>
          <p:nvPr/>
        </p:nvSpPr>
        <p:spPr>
          <a:xfrm>
            <a:off x="10110063" y="4224528"/>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44" name="Rectangle 43"/>
          <p:cNvSpPr/>
          <p:nvPr/>
        </p:nvSpPr>
        <p:spPr>
          <a:xfrm>
            <a:off x="10538764" y="4224528"/>
            <a:ext cx="355549" cy="310896"/>
          </a:xfrm>
          <a:prstGeom prst="rect">
            <a:avLst/>
          </a:prstGeom>
          <a:solidFill>
            <a:srgbClr val="F2F2F2"/>
          </a:solidFill>
          <a:ln w="9525">
            <a:solidFill>
              <a:srgbClr val="D9D9D9"/>
            </a:solidFill>
          </a:ln>
          <a:effectLst/>
        </p:spPr>
        <p:txBody>
          <a:bodyPr rtlCol="0" anchor="ctr"/>
          <a:lstStyle/>
          <a:p>
            <a:pPr algn="ctr"/>
            <a:endParaRPr/>
          </a:p>
        </p:txBody>
      </p:sp>
      <p:sp>
        <p:nvSpPr>
          <p:cNvPr id="45" name="Rectangle 44"/>
          <p:cNvSpPr/>
          <p:nvPr/>
        </p:nvSpPr>
        <p:spPr>
          <a:xfrm>
            <a:off x="10967465" y="4224528"/>
            <a:ext cx="355549" cy="310896"/>
          </a:xfrm>
          <a:prstGeom prst="rect">
            <a:avLst/>
          </a:prstGeom>
          <a:solidFill>
            <a:srgbClr val="F2F2F2"/>
          </a:solidFill>
          <a:ln w="9525">
            <a:solidFill>
              <a:srgbClr val="D9D9D9"/>
            </a:solidFill>
          </a:ln>
          <a:effectLst/>
        </p:spPr>
        <p:txBody>
          <a:bodyPr rtlCol="0" anchor="ctr"/>
          <a:lstStyle/>
          <a:p>
            <a:pPr algn="ctr"/>
            <a:endParaRPr/>
          </a:p>
        </p:txBody>
      </p:sp>
      <p:cxnSp>
        <p:nvCxnSpPr>
          <p:cNvPr id="46" name="Connector 45"/>
          <p:cNvCxnSpPr/>
          <p:nvPr/>
        </p:nvCxnSpPr>
        <p:spPr>
          <a:xfrm>
            <a:off x="6629400" y="4663440"/>
            <a:ext cx="5150815" cy="0"/>
          </a:xfrm>
          <a:prstGeom prst="line">
            <a:avLst/>
          </a:prstGeom>
          <a:ln w="25400">
            <a:solidFill>
              <a:srgbClr val="111111"/>
            </a:solidFill>
          </a:ln>
          <a:effectLst/>
        </p:spPr>
      </p:cxnSp>
      <p:sp>
        <p:nvSpPr>
          <p:cNvPr id="47" name="TextBox 46"/>
          <p:cNvSpPr txBox="1"/>
          <p:nvPr/>
        </p:nvSpPr>
        <p:spPr>
          <a:xfrm>
            <a:off x="6949440" y="4773168"/>
            <a:ext cx="4510735"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Coupe du bâtiment, par niveau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Fonctionnement</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L’équité de l’attribution</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Personne ne passe devant un autre, et personne ne cumule les boutiques.</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7</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5760720" cy="3931920"/>
          </a:xfrm>
          <a:prstGeom prst="rect">
            <a:avLst/>
          </a:prstGeom>
          <a:noFill/>
        </p:spPr>
        <p:txBody>
          <a:bodyPr wrap="square" lIns="0" rIns="0">
            <a:spAutoFit/>
          </a:bodyPr>
          <a:lstStyle/>
          <a:p>
            <a:pPr marL="274320" indent="-274320">
              <a:spcAft>
                <a:spcPts val="1000"/>
              </a:spcAft>
              <a:buFont typeface="Public Sans" pitchFamily="34" charset="0"/>
              <a:buChar char="•"/>
            </a:pPr>
            <a:r>
              <a:rPr sz="1800">
                <a:solidFill>
                  <a:srgbClr val="111111"/>
                </a:solidFill>
                <a:latin typeface="Public Sans" pitchFamily="34" charset="0"/>
              </a:rPr>
              <a:t>Premier arrivé, premier servi, sans tirage au sort</a:t>
            </a:r>
          </a:p>
          <a:p>
            <a:pPr marL="274320" indent="-274320">
              <a:spcAft>
                <a:spcPts val="1000"/>
              </a:spcAft>
              <a:buFont typeface="Public Sans" pitchFamily="34" charset="0"/>
              <a:buChar char="•"/>
            </a:pPr>
            <a:r>
              <a:rPr sz="1800">
                <a:solidFill>
                  <a:srgbClr val="111111"/>
                </a:solidFill>
                <a:latin typeface="Public Sans" pitchFamily="34" charset="0"/>
              </a:rPr>
              <a:t>Une limite par type d’emplacement et par personne</a:t>
            </a:r>
          </a:p>
          <a:p>
            <a:pPr marL="274320" indent="-274320">
              <a:spcAft>
                <a:spcPts val="1000"/>
              </a:spcAft>
              <a:buFont typeface="Public Sans" pitchFamily="34" charset="0"/>
              <a:buChar char="•"/>
            </a:pPr>
            <a:r>
              <a:rPr sz="1800">
                <a:solidFill>
                  <a:srgbClr val="111111"/>
                </a:solidFill>
                <a:latin typeface="Public Sans" pitchFamily="34" charset="0"/>
              </a:rPr>
              <a:t>La limite est contrôlée sur le numéro de la pièce d’identité</a:t>
            </a:r>
          </a:p>
          <a:p>
            <a:pPr marL="274320" indent="-274320">
              <a:spcAft>
                <a:spcPts val="1000"/>
              </a:spcAft>
              <a:buFont typeface="Public Sans" pitchFamily="34" charset="0"/>
              <a:buChar char="•"/>
            </a:pPr>
            <a:r>
              <a:rPr sz="1800">
                <a:solidFill>
                  <a:srgbClr val="111111"/>
                </a:solidFill>
                <a:latin typeface="Public Sans" pitchFamily="34" charset="0"/>
              </a:rPr>
              <a:t>Une liste d’attente pour chaque boutique déjà réservée</a:t>
            </a:r>
          </a:p>
          <a:p>
            <a:pPr marL="274320" indent="-274320">
              <a:spcAft>
                <a:spcPts val="1000"/>
              </a:spcAft>
              <a:buFont typeface="Public Sans" pitchFamily="34" charset="0"/>
              <a:buChar char="•"/>
            </a:pPr>
            <a:r>
              <a:rPr sz="1800">
                <a:solidFill>
                  <a:srgbClr val="111111"/>
                </a:solidFill>
                <a:latin typeface="Public Sans" pitchFamily="34" charset="0"/>
              </a:rPr>
              <a:t>Une boutique libérée revient au premier inscrit</a:t>
            </a:r>
          </a:p>
        </p:txBody>
      </p:sp>
      <p:sp>
        <p:nvSpPr>
          <p:cNvPr id="13" name="Rectangle 12"/>
          <p:cNvSpPr/>
          <p:nvPr/>
        </p:nvSpPr>
        <p:spPr>
          <a:xfrm>
            <a:off x="6949440" y="2331720"/>
            <a:ext cx="2377440" cy="822960"/>
          </a:xfrm>
          <a:prstGeom prst="rect">
            <a:avLst/>
          </a:prstGeom>
          <a:solidFill>
            <a:srgbClr val="FFFFFF"/>
          </a:solidFill>
          <a:ln w="19050">
            <a:solidFill>
              <a:srgbClr val="005C2B"/>
            </a:solidFill>
          </a:ln>
          <a:effectLst/>
        </p:spPr>
        <p:txBody>
          <a:bodyPr wrap="square" lIns="73152" tIns="36576" rIns="73152" bIns="36576" rtlCol="0" anchor="ctr"/>
          <a:lstStyle/>
          <a:p>
            <a:pPr algn="ctr"/>
            <a:r>
              <a:rPr sz="1600" b="1">
                <a:solidFill>
                  <a:srgbClr val="005C2B"/>
                </a:solidFill>
                <a:latin typeface="Public Sans" pitchFamily="34" charset="0"/>
              </a:rPr>
              <a:t>Boutique libérée</a:t>
            </a:r>
          </a:p>
        </p:txBody>
      </p:sp>
      <p:cxnSp>
        <p:nvCxnSpPr>
          <p:cNvPr id="14" name="Connector 13"/>
          <p:cNvCxnSpPr/>
          <p:nvPr/>
        </p:nvCxnSpPr>
        <p:spPr>
          <a:xfrm>
            <a:off x="8138160" y="3172968"/>
            <a:ext cx="0" cy="621792"/>
          </a:xfrm>
          <a:prstGeom prst="line">
            <a:avLst/>
          </a:prstGeom>
          <a:ln w="19050">
            <a:solidFill>
              <a:srgbClr val="005C2B"/>
            </a:solidFill>
            <a:tailEnd type="triangle" w="med" len="med"/>
          </a:ln>
          <a:effectLst/>
        </p:spPr>
      </p:cxnSp>
      <p:sp>
        <p:nvSpPr>
          <p:cNvPr id="15" name="Oval 14"/>
          <p:cNvSpPr/>
          <p:nvPr/>
        </p:nvSpPr>
        <p:spPr>
          <a:xfrm>
            <a:off x="7854696" y="3840480"/>
            <a:ext cx="566928" cy="566928"/>
          </a:xfrm>
          <a:prstGeom prst="ellipse">
            <a:avLst/>
          </a:prstGeom>
          <a:solidFill>
            <a:srgbClr val="005C2B"/>
          </a:solidFill>
          <a:ln w="12700">
            <a:solidFill>
              <a:srgbClr val="005C2B"/>
            </a:solidFill>
          </a:ln>
          <a:effectLst/>
        </p:spPr>
        <p:txBody>
          <a:bodyPr rtlCol="0" anchor="ctr"/>
          <a:lstStyle/>
          <a:p>
            <a:pPr algn="ctr"/>
            <a:endParaRPr/>
          </a:p>
        </p:txBody>
      </p:sp>
      <p:sp>
        <p:nvSpPr>
          <p:cNvPr id="16" name="Oval 15"/>
          <p:cNvSpPr/>
          <p:nvPr/>
        </p:nvSpPr>
        <p:spPr>
          <a:xfrm>
            <a:off x="8677656" y="3840480"/>
            <a:ext cx="566928" cy="566928"/>
          </a:xfrm>
          <a:prstGeom prst="ellipse">
            <a:avLst/>
          </a:prstGeom>
          <a:solidFill>
            <a:srgbClr val="F2F2F2"/>
          </a:solidFill>
          <a:ln w="12700">
            <a:solidFill>
              <a:srgbClr val="111111"/>
            </a:solidFill>
          </a:ln>
          <a:effectLst/>
        </p:spPr>
        <p:txBody>
          <a:bodyPr rtlCol="0" anchor="ctr"/>
          <a:lstStyle/>
          <a:p>
            <a:pPr algn="ctr"/>
            <a:endParaRPr/>
          </a:p>
        </p:txBody>
      </p:sp>
      <p:sp>
        <p:nvSpPr>
          <p:cNvPr id="17" name="Oval 16"/>
          <p:cNvSpPr/>
          <p:nvPr/>
        </p:nvSpPr>
        <p:spPr>
          <a:xfrm>
            <a:off x="9500616" y="3840480"/>
            <a:ext cx="566928" cy="566928"/>
          </a:xfrm>
          <a:prstGeom prst="ellipse">
            <a:avLst/>
          </a:prstGeom>
          <a:solidFill>
            <a:srgbClr val="F2F2F2"/>
          </a:solidFill>
          <a:ln w="12700">
            <a:solidFill>
              <a:srgbClr val="111111"/>
            </a:solidFill>
          </a:ln>
          <a:effectLst/>
        </p:spPr>
        <p:txBody>
          <a:bodyPr rtlCol="0" anchor="ctr"/>
          <a:lstStyle/>
          <a:p>
            <a:pPr algn="ctr"/>
            <a:endParaRPr/>
          </a:p>
        </p:txBody>
      </p:sp>
      <p:sp>
        <p:nvSpPr>
          <p:cNvPr id="18" name="Oval 17"/>
          <p:cNvSpPr/>
          <p:nvPr/>
        </p:nvSpPr>
        <p:spPr>
          <a:xfrm>
            <a:off x="10323576" y="3840480"/>
            <a:ext cx="566928" cy="566928"/>
          </a:xfrm>
          <a:prstGeom prst="ellipse">
            <a:avLst/>
          </a:prstGeom>
          <a:solidFill>
            <a:srgbClr val="F2F2F2"/>
          </a:solidFill>
          <a:ln w="12700">
            <a:solidFill>
              <a:srgbClr val="111111"/>
            </a:solidFill>
          </a:ln>
          <a:effectLst/>
        </p:spPr>
        <p:txBody>
          <a:bodyPr rtlCol="0" anchor="ctr"/>
          <a:lstStyle/>
          <a:p>
            <a:pPr algn="ctr"/>
            <a:endParaRPr/>
          </a:p>
        </p:txBody>
      </p:sp>
      <p:sp>
        <p:nvSpPr>
          <p:cNvPr id="19" name="TextBox 18"/>
          <p:cNvSpPr txBox="1"/>
          <p:nvPr/>
        </p:nvSpPr>
        <p:spPr>
          <a:xfrm>
            <a:off x="7397496" y="4498848"/>
            <a:ext cx="1481328" cy="320040"/>
          </a:xfrm>
          <a:prstGeom prst="rect">
            <a:avLst/>
          </a:prstGeom>
          <a:noFill/>
        </p:spPr>
        <p:txBody>
          <a:bodyPr wrap="square" lIns="0" tIns="18288" rIns="0" bIns="18288" anchor="t">
            <a:spAutoFit/>
          </a:bodyPr>
          <a:lstStyle/>
          <a:p>
            <a:pPr algn="ctr"/>
            <a:r>
              <a:rPr sz="1400" b="1">
                <a:solidFill>
                  <a:srgbClr val="005C2B"/>
                </a:solidFill>
                <a:latin typeface="Public Sans" pitchFamily="34" charset="0"/>
              </a:rPr>
              <a:t>Premier inscrit</a:t>
            </a:r>
          </a:p>
        </p:txBody>
      </p:sp>
      <p:cxnSp>
        <p:nvCxnSpPr>
          <p:cNvPr id="20" name="Connector 19"/>
          <p:cNvCxnSpPr/>
          <p:nvPr/>
        </p:nvCxnSpPr>
        <p:spPr>
          <a:xfrm>
            <a:off x="8631936" y="4910328"/>
            <a:ext cx="3011119" cy="0"/>
          </a:xfrm>
          <a:prstGeom prst="line">
            <a:avLst/>
          </a:prstGeom>
          <a:ln w="12700">
            <a:solidFill>
              <a:srgbClr val="D9D9D9"/>
            </a:solidFill>
          </a:ln>
          <a:effectLst/>
        </p:spPr>
      </p:cxnSp>
      <p:sp>
        <p:nvSpPr>
          <p:cNvPr id="21" name="TextBox 20"/>
          <p:cNvSpPr txBox="1"/>
          <p:nvPr/>
        </p:nvSpPr>
        <p:spPr>
          <a:xfrm>
            <a:off x="8631936" y="4974336"/>
            <a:ext cx="3011119"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Liste d’attente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Investissement et paiements</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RAAGA Invest</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RAAGA Invest ouvre l’actionnariat du marché aux citoyens.</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8</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5760720" cy="3931920"/>
          </a:xfrm>
          <a:prstGeom prst="rect">
            <a:avLst/>
          </a:prstGeom>
          <a:noFill/>
        </p:spPr>
        <p:txBody>
          <a:bodyPr wrap="square" lIns="0" rIns="0">
            <a:spAutoFit/>
          </a:bodyPr>
          <a:lstStyle/>
          <a:p>
            <a:pPr marL="274320" indent="-274320">
              <a:spcAft>
                <a:spcPts val="1000"/>
              </a:spcAft>
              <a:buFont typeface="Public Sans" pitchFamily="34" charset="0"/>
              <a:buChar char="•"/>
            </a:pPr>
            <a:r>
              <a:rPr sz="1800">
                <a:solidFill>
                  <a:srgbClr val="111111"/>
                </a:solidFill>
                <a:latin typeface="Public Sans" pitchFamily="34" charset="0"/>
              </a:rPr>
              <a:t>Prix de l’action et objectif de collecte fixés par le RÉGULATEUR</a:t>
            </a:r>
          </a:p>
          <a:p>
            <a:pPr marL="274320" indent="-274320">
              <a:spcAft>
                <a:spcPts val="1000"/>
              </a:spcAft>
              <a:buFont typeface="Public Sans" pitchFamily="34" charset="0"/>
              <a:buChar char="•"/>
            </a:pPr>
            <a:r>
              <a:rPr sz="1800">
                <a:solidFill>
                  <a:srgbClr val="111111"/>
                </a:solidFill>
                <a:latin typeface="Public Sans" pitchFamily="34" charset="0"/>
              </a:rPr>
              <a:t>Des engagements à accepter avant tout paiement</a:t>
            </a:r>
          </a:p>
          <a:p>
            <a:pPr marL="274320" indent="-274320">
              <a:spcAft>
                <a:spcPts val="1000"/>
              </a:spcAft>
              <a:buFont typeface="Public Sans" pitchFamily="34" charset="0"/>
              <a:buChar char="•"/>
            </a:pPr>
            <a:r>
              <a:rPr sz="1800">
                <a:solidFill>
                  <a:srgbClr val="111111"/>
                </a:solidFill>
                <a:latin typeface="Public Sans" pitchFamily="34" charset="0"/>
              </a:rPr>
              <a:t>Actions gelées si l’identité n’est pas validée dans le délai</a:t>
            </a:r>
          </a:p>
          <a:p>
            <a:pPr marL="274320" indent="-274320">
              <a:spcAft>
                <a:spcPts val="1000"/>
              </a:spcAft>
              <a:buFont typeface="Public Sans" pitchFamily="34" charset="0"/>
              <a:buChar char="•"/>
            </a:pPr>
            <a:r>
              <a:rPr sz="1800">
                <a:solidFill>
                  <a:srgbClr val="111111"/>
                </a:solidFill>
                <a:latin typeface="Public Sans" pitchFamily="34" charset="0"/>
              </a:rPr>
              <a:t>Dividendes décidés par l’assemblée générale et versés aux actionnaires</a:t>
            </a:r>
          </a:p>
          <a:p>
            <a:pPr marL="274320" indent="-274320">
              <a:spcAft>
                <a:spcPts val="1000"/>
              </a:spcAft>
              <a:buFont typeface="Public Sans" pitchFamily="34" charset="0"/>
              <a:buChar char="•"/>
            </a:pPr>
            <a:r>
              <a:rPr sz="1800">
                <a:solidFill>
                  <a:srgbClr val="111111"/>
                </a:solidFill>
                <a:latin typeface="Public Sans" pitchFamily="34" charset="0"/>
              </a:rPr>
              <a:t>Aucun droit ni priorité sur les boutiques</a:t>
            </a:r>
          </a:p>
        </p:txBody>
      </p:sp>
      <p:sp>
        <p:nvSpPr>
          <p:cNvPr id="13" name="Rectangle 12"/>
          <p:cNvSpPr/>
          <p:nvPr/>
        </p:nvSpPr>
        <p:spPr>
          <a:xfrm>
            <a:off x="6766560" y="2331720"/>
            <a:ext cx="1412138" cy="100584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Souscrire</a:t>
            </a:r>
          </a:p>
        </p:txBody>
      </p:sp>
      <p:cxnSp>
        <p:nvCxnSpPr>
          <p:cNvPr id="14" name="Connector 13"/>
          <p:cNvCxnSpPr/>
          <p:nvPr/>
        </p:nvCxnSpPr>
        <p:spPr>
          <a:xfrm>
            <a:off x="8206130" y="2834640"/>
            <a:ext cx="265176" cy="0"/>
          </a:xfrm>
          <a:prstGeom prst="line">
            <a:avLst/>
          </a:prstGeom>
          <a:ln w="12700">
            <a:solidFill>
              <a:srgbClr val="111111"/>
            </a:solidFill>
            <a:tailEnd type="triangle" w="med" len="med"/>
          </a:ln>
          <a:effectLst/>
        </p:spPr>
      </p:cxnSp>
      <p:sp>
        <p:nvSpPr>
          <p:cNvPr id="15" name="Rectangle 14"/>
          <p:cNvSpPr/>
          <p:nvPr/>
        </p:nvSpPr>
        <p:spPr>
          <a:xfrm>
            <a:off x="8498738" y="2331720"/>
            <a:ext cx="1412138" cy="100584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600" b="1">
                <a:solidFill>
                  <a:srgbClr val="111111"/>
                </a:solidFill>
                <a:latin typeface="Public Sans" pitchFamily="34" charset="0"/>
              </a:rPr>
              <a:t>Payer</a:t>
            </a:r>
          </a:p>
        </p:txBody>
      </p:sp>
      <p:cxnSp>
        <p:nvCxnSpPr>
          <p:cNvPr id="16" name="Connector 15"/>
          <p:cNvCxnSpPr/>
          <p:nvPr/>
        </p:nvCxnSpPr>
        <p:spPr>
          <a:xfrm>
            <a:off x="9938308" y="2834640"/>
            <a:ext cx="265176" cy="0"/>
          </a:xfrm>
          <a:prstGeom prst="line">
            <a:avLst/>
          </a:prstGeom>
          <a:ln w="12700">
            <a:solidFill>
              <a:srgbClr val="111111"/>
            </a:solidFill>
            <a:tailEnd type="triangle" w="med" len="med"/>
          </a:ln>
          <a:effectLst/>
        </p:spPr>
      </p:cxnSp>
      <p:sp>
        <p:nvSpPr>
          <p:cNvPr id="17" name="Rectangle 16"/>
          <p:cNvSpPr/>
          <p:nvPr/>
        </p:nvSpPr>
        <p:spPr>
          <a:xfrm>
            <a:off x="10230916" y="2331720"/>
            <a:ext cx="1412138" cy="1005840"/>
          </a:xfrm>
          <a:prstGeom prst="rect">
            <a:avLst/>
          </a:prstGeom>
          <a:solidFill>
            <a:srgbClr val="005C2B"/>
          </a:solidFill>
          <a:ln w="12700">
            <a:solidFill>
              <a:srgbClr val="005C2B"/>
            </a:solidFill>
          </a:ln>
          <a:effectLst/>
        </p:spPr>
        <p:txBody>
          <a:bodyPr wrap="square" lIns="73152" tIns="36576" rIns="73152" bIns="36576" rtlCol="0" anchor="ctr"/>
          <a:lstStyle/>
          <a:p>
            <a:pPr algn="ctr"/>
            <a:r>
              <a:rPr sz="1600" b="1">
                <a:solidFill>
                  <a:srgbClr val="FFFFFF"/>
                </a:solidFill>
                <a:latin typeface="Public Sans" pitchFamily="34" charset="0"/>
              </a:rPr>
              <a:t>Recevoir son attestation</a:t>
            </a:r>
          </a:p>
        </p:txBody>
      </p:sp>
      <p:cxnSp>
        <p:nvCxnSpPr>
          <p:cNvPr id="18" name="Connector 17"/>
          <p:cNvCxnSpPr/>
          <p:nvPr/>
        </p:nvCxnSpPr>
        <p:spPr>
          <a:xfrm>
            <a:off x="10936985" y="3337560"/>
            <a:ext cx="0" cy="685800"/>
          </a:xfrm>
          <a:prstGeom prst="line">
            <a:avLst/>
          </a:prstGeom>
          <a:ln w="12700">
            <a:solidFill>
              <a:srgbClr val="111111"/>
            </a:solidFill>
            <a:tailEnd type="triangle" w="med" len="med"/>
          </a:ln>
          <a:effectLst/>
        </p:spPr>
      </p:cxnSp>
      <p:sp>
        <p:nvSpPr>
          <p:cNvPr id="19" name="Rectangle 18"/>
          <p:cNvSpPr/>
          <p:nvPr/>
        </p:nvSpPr>
        <p:spPr>
          <a:xfrm>
            <a:off x="6766560" y="4023360"/>
            <a:ext cx="4876495" cy="1051560"/>
          </a:xfrm>
          <a:prstGeom prst="rect">
            <a:avLst/>
          </a:prstGeom>
          <a:solidFill>
            <a:srgbClr val="FFFFFF"/>
          </a:solidFill>
          <a:ln w="12700">
            <a:solidFill>
              <a:srgbClr val="111111"/>
            </a:solidFill>
          </a:ln>
          <a:effectLst/>
        </p:spPr>
        <p:txBody>
          <a:bodyPr wrap="square" lIns="73152" tIns="36576" rIns="73152" bIns="36576" rtlCol="0" anchor="ctr"/>
          <a:lstStyle/>
          <a:p>
            <a:pPr algn="ctr"/>
            <a:r>
              <a:rPr sz="1500" b="0">
                <a:solidFill>
                  <a:srgbClr val="111111"/>
                </a:solidFill>
                <a:latin typeface="Public Sans" pitchFamily="34" charset="0"/>
              </a:rPr>
              <a:t>Identité non validée dans le délai : actions gelées, sans perte des dividendes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Investissement et paiements</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Paiements et identité</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Plusieurs moyens de paiement, et une identité vérifiée sur pièce.</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9</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240280"/>
            <a:ext cx="5760720" cy="2743200"/>
          </a:xfrm>
          <a:prstGeom prst="rect">
            <a:avLst/>
          </a:prstGeom>
          <a:noFill/>
        </p:spPr>
        <p:txBody>
          <a:bodyPr wrap="square" lIns="0" rIns="0">
            <a:spAutoFit/>
          </a:bodyPr>
          <a:lstStyle/>
          <a:p>
            <a:pPr marL="274320" indent="-274320">
              <a:spcAft>
                <a:spcPts val="1800"/>
              </a:spcAft>
              <a:buFont typeface="Public Sans" pitchFamily="34" charset="0"/>
              <a:buChar char="•"/>
            </a:pPr>
            <a:r>
              <a:rPr sz="2000">
                <a:solidFill>
                  <a:srgbClr val="111111"/>
                </a:solidFill>
                <a:latin typeface="Public Sans" pitchFamily="34" charset="0"/>
              </a:rPr>
              <a:t>Des comptes séparés pour la location et pour l’investissement</a:t>
            </a:r>
          </a:p>
          <a:p>
            <a:pPr marL="274320" indent="-274320">
              <a:spcAft>
                <a:spcPts val="1800"/>
              </a:spcAft>
              <a:buFont typeface="Public Sans" pitchFamily="34" charset="0"/>
              <a:buChar char="•"/>
            </a:pPr>
            <a:r>
              <a:rPr sz="2000">
                <a:solidFill>
                  <a:srgbClr val="111111"/>
                </a:solidFill>
                <a:latin typeface="Public Sans" pitchFamily="34" charset="0"/>
              </a:rPr>
              <a:t>Aucun numéro de carte bancaire saisi ni conservé par la plateforme</a:t>
            </a:r>
          </a:p>
        </p:txBody>
      </p:sp>
      <p:sp>
        <p:nvSpPr>
          <p:cNvPr id="13" name="TextBox 12"/>
          <p:cNvSpPr txBox="1"/>
          <p:nvPr/>
        </p:nvSpPr>
        <p:spPr>
          <a:xfrm>
            <a:off x="6766560" y="2240280"/>
            <a:ext cx="2278227" cy="365760"/>
          </a:xfrm>
          <a:prstGeom prst="rect">
            <a:avLst/>
          </a:prstGeom>
          <a:noFill/>
        </p:spPr>
        <p:txBody>
          <a:bodyPr wrap="square" lIns="0" tIns="18288" rIns="0" bIns="18288" anchor="t">
            <a:spAutoFit/>
          </a:bodyPr>
          <a:lstStyle/>
          <a:p>
            <a:pPr algn="l"/>
            <a:r>
              <a:rPr sz="1600" b="1">
                <a:solidFill>
                  <a:srgbClr val="111111"/>
                </a:solidFill>
                <a:latin typeface="Public Sans" pitchFamily="34" charset="0"/>
              </a:rPr>
              <a:t>Moyens de paiement</a:t>
            </a:r>
          </a:p>
        </p:txBody>
      </p:sp>
      <p:cxnSp>
        <p:nvCxnSpPr>
          <p:cNvPr id="14" name="Connector 13"/>
          <p:cNvCxnSpPr/>
          <p:nvPr/>
        </p:nvCxnSpPr>
        <p:spPr>
          <a:xfrm>
            <a:off x="6766560" y="2651760"/>
            <a:ext cx="2278227" cy="0"/>
          </a:xfrm>
          <a:prstGeom prst="line">
            <a:avLst/>
          </a:prstGeom>
          <a:ln w="19050">
            <a:solidFill>
              <a:srgbClr val="005C2B"/>
            </a:solidFill>
          </a:ln>
          <a:effectLst/>
        </p:spPr>
      </p:cxnSp>
      <p:sp>
        <p:nvSpPr>
          <p:cNvPr id="15" name="Rectangle 14"/>
          <p:cNvSpPr/>
          <p:nvPr/>
        </p:nvSpPr>
        <p:spPr>
          <a:xfrm>
            <a:off x="6766560" y="2834640"/>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Mobile Money</a:t>
            </a:r>
          </a:p>
        </p:txBody>
      </p:sp>
      <p:sp>
        <p:nvSpPr>
          <p:cNvPr id="16" name="Rectangle 15"/>
          <p:cNvSpPr/>
          <p:nvPr/>
        </p:nvSpPr>
        <p:spPr>
          <a:xfrm>
            <a:off x="6766560" y="2834640"/>
            <a:ext cx="73152" cy="502920"/>
          </a:xfrm>
          <a:prstGeom prst="rect">
            <a:avLst/>
          </a:prstGeom>
          <a:solidFill>
            <a:srgbClr val="005C2B"/>
          </a:solidFill>
          <a:ln>
            <a:noFill/>
          </a:ln>
          <a:effectLst/>
        </p:spPr>
        <p:txBody>
          <a:bodyPr rtlCol="0" anchor="ctr"/>
          <a:lstStyle/>
          <a:p>
            <a:pPr algn="ctr"/>
            <a:endParaRPr/>
          </a:p>
        </p:txBody>
      </p:sp>
      <p:sp>
        <p:nvSpPr>
          <p:cNvPr id="17" name="Rectangle 16"/>
          <p:cNvSpPr/>
          <p:nvPr/>
        </p:nvSpPr>
        <p:spPr>
          <a:xfrm>
            <a:off x="6766560" y="3456432"/>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Carte bancaire</a:t>
            </a:r>
          </a:p>
        </p:txBody>
      </p:sp>
      <p:sp>
        <p:nvSpPr>
          <p:cNvPr id="18" name="Rectangle 17"/>
          <p:cNvSpPr/>
          <p:nvPr/>
        </p:nvSpPr>
        <p:spPr>
          <a:xfrm>
            <a:off x="6766560" y="3456432"/>
            <a:ext cx="73152" cy="502920"/>
          </a:xfrm>
          <a:prstGeom prst="rect">
            <a:avLst/>
          </a:prstGeom>
          <a:solidFill>
            <a:srgbClr val="005C2B"/>
          </a:solidFill>
          <a:ln>
            <a:noFill/>
          </a:ln>
          <a:effectLst/>
        </p:spPr>
        <p:txBody>
          <a:bodyPr rtlCol="0" anchor="ctr"/>
          <a:lstStyle/>
          <a:p>
            <a:pPr algn="ctr"/>
            <a:endParaRPr/>
          </a:p>
        </p:txBody>
      </p:sp>
      <p:sp>
        <p:nvSpPr>
          <p:cNvPr id="19" name="Rectangle 18"/>
          <p:cNvSpPr/>
          <p:nvPr/>
        </p:nvSpPr>
        <p:spPr>
          <a:xfrm>
            <a:off x="6766560" y="4078224"/>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Virement</a:t>
            </a:r>
          </a:p>
        </p:txBody>
      </p:sp>
      <p:sp>
        <p:nvSpPr>
          <p:cNvPr id="20" name="Rectangle 19"/>
          <p:cNvSpPr/>
          <p:nvPr/>
        </p:nvSpPr>
        <p:spPr>
          <a:xfrm>
            <a:off x="6766560" y="4078224"/>
            <a:ext cx="73152" cy="502920"/>
          </a:xfrm>
          <a:prstGeom prst="rect">
            <a:avLst/>
          </a:prstGeom>
          <a:solidFill>
            <a:srgbClr val="005C2B"/>
          </a:solidFill>
          <a:ln>
            <a:noFill/>
          </a:ln>
          <a:effectLst/>
        </p:spPr>
        <p:txBody>
          <a:bodyPr rtlCol="0" anchor="ctr"/>
          <a:lstStyle/>
          <a:p>
            <a:pPr algn="ctr"/>
            <a:endParaRPr/>
          </a:p>
        </p:txBody>
      </p:sp>
      <p:sp>
        <p:nvSpPr>
          <p:cNvPr id="21" name="Rectangle 20"/>
          <p:cNvSpPr/>
          <p:nvPr/>
        </p:nvSpPr>
        <p:spPr>
          <a:xfrm>
            <a:off x="6766560" y="4700016"/>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Guichet</a:t>
            </a:r>
          </a:p>
        </p:txBody>
      </p:sp>
      <p:sp>
        <p:nvSpPr>
          <p:cNvPr id="22" name="Rectangle 21"/>
          <p:cNvSpPr/>
          <p:nvPr/>
        </p:nvSpPr>
        <p:spPr>
          <a:xfrm>
            <a:off x="6766560" y="4700016"/>
            <a:ext cx="73152" cy="502920"/>
          </a:xfrm>
          <a:prstGeom prst="rect">
            <a:avLst/>
          </a:prstGeom>
          <a:solidFill>
            <a:srgbClr val="005C2B"/>
          </a:solidFill>
          <a:ln>
            <a:noFill/>
          </a:ln>
          <a:effectLst/>
        </p:spPr>
        <p:txBody>
          <a:bodyPr rtlCol="0" anchor="ctr"/>
          <a:lstStyle/>
          <a:p>
            <a:pPr algn="ctr"/>
            <a:endParaRPr/>
          </a:p>
        </p:txBody>
      </p:sp>
      <p:sp>
        <p:nvSpPr>
          <p:cNvPr id="23" name="TextBox 22"/>
          <p:cNvSpPr txBox="1"/>
          <p:nvPr/>
        </p:nvSpPr>
        <p:spPr>
          <a:xfrm>
            <a:off x="9364827" y="2240280"/>
            <a:ext cx="2278227" cy="365760"/>
          </a:xfrm>
          <a:prstGeom prst="rect">
            <a:avLst/>
          </a:prstGeom>
          <a:noFill/>
        </p:spPr>
        <p:txBody>
          <a:bodyPr wrap="square" lIns="0" tIns="18288" rIns="0" bIns="18288" anchor="t">
            <a:spAutoFit/>
          </a:bodyPr>
          <a:lstStyle/>
          <a:p>
            <a:pPr algn="l"/>
            <a:r>
              <a:rPr sz="1600" b="1">
                <a:solidFill>
                  <a:srgbClr val="111111"/>
                </a:solidFill>
                <a:latin typeface="Public Sans" pitchFamily="34" charset="0"/>
              </a:rPr>
              <a:t>Pièces d’identité</a:t>
            </a:r>
          </a:p>
        </p:txBody>
      </p:sp>
      <p:cxnSp>
        <p:nvCxnSpPr>
          <p:cNvPr id="24" name="Connector 23"/>
          <p:cNvCxnSpPr/>
          <p:nvPr/>
        </p:nvCxnSpPr>
        <p:spPr>
          <a:xfrm>
            <a:off x="9364827" y="2651760"/>
            <a:ext cx="2278227" cy="0"/>
          </a:xfrm>
          <a:prstGeom prst="line">
            <a:avLst/>
          </a:prstGeom>
          <a:ln w="19050">
            <a:solidFill>
              <a:srgbClr val="005C2B"/>
            </a:solidFill>
          </a:ln>
          <a:effectLst/>
        </p:spPr>
      </p:cxnSp>
      <p:sp>
        <p:nvSpPr>
          <p:cNvPr id="25" name="Rectangle 24"/>
          <p:cNvSpPr/>
          <p:nvPr/>
        </p:nvSpPr>
        <p:spPr>
          <a:xfrm>
            <a:off x="9364827" y="2834640"/>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CNIB</a:t>
            </a:r>
          </a:p>
        </p:txBody>
      </p:sp>
      <p:sp>
        <p:nvSpPr>
          <p:cNvPr id="26" name="Rectangle 25"/>
          <p:cNvSpPr/>
          <p:nvPr/>
        </p:nvSpPr>
        <p:spPr>
          <a:xfrm>
            <a:off x="9364827" y="2834640"/>
            <a:ext cx="73152" cy="502920"/>
          </a:xfrm>
          <a:prstGeom prst="rect">
            <a:avLst/>
          </a:prstGeom>
          <a:solidFill>
            <a:srgbClr val="005C2B"/>
          </a:solidFill>
          <a:ln>
            <a:noFill/>
          </a:ln>
          <a:effectLst/>
        </p:spPr>
        <p:txBody>
          <a:bodyPr rtlCol="0" anchor="ctr"/>
          <a:lstStyle/>
          <a:p>
            <a:pPr algn="ctr"/>
            <a:endParaRPr/>
          </a:p>
        </p:txBody>
      </p:sp>
      <p:sp>
        <p:nvSpPr>
          <p:cNvPr id="27" name="Rectangle 26"/>
          <p:cNvSpPr/>
          <p:nvPr/>
        </p:nvSpPr>
        <p:spPr>
          <a:xfrm>
            <a:off x="9364827" y="3456432"/>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CIB-AES</a:t>
            </a:r>
          </a:p>
        </p:txBody>
      </p:sp>
      <p:sp>
        <p:nvSpPr>
          <p:cNvPr id="28" name="Rectangle 27"/>
          <p:cNvSpPr/>
          <p:nvPr/>
        </p:nvSpPr>
        <p:spPr>
          <a:xfrm>
            <a:off x="9364827" y="3456432"/>
            <a:ext cx="73152" cy="502920"/>
          </a:xfrm>
          <a:prstGeom prst="rect">
            <a:avLst/>
          </a:prstGeom>
          <a:solidFill>
            <a:srgbClr val="005C2B"/>
          </a:solidFill>
          <a:ln>
            <a:noFill/>
          </a:ln>
          <a:effectLst/>
        </p:spPr>
        <p:txBody>
          <a:bodyPr rtlCol="0" anchor="ctr"/>
          <a:lstStyle/>
          <a:p>
            <a:pPr algn="ctr"/>
            <a:endParaRPr/>
          </a:p>
        </p:txBody>
      </p:sp>
      <p:sp>
        <p:nvSpPr>
          <p:cNvPr id="29" name="Rectangle 28"/>
          <p:cNvSpPr/>
          <p:nvPr/>
        </p:nvSpPr>
        <p:spPr>
          <a:xfrm>
            <a:off x="9364827" y="4078224"/>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Passeport</a:t>
            </a:r>
          </a:p>
        </p:txBody>
      </p:sp>
      <p:sp>
        <p:nvSpPr>
          <p:cNvPr id="30" name="Rectangle 29"/>
          <p:cNvSpPr/>
          <p:nvPr/>
        </p:nvSpPr>
        <p:spPr>
          <a:xfrm>
            <a:off x="9364827" y="4078224"/>
            <a:ext cx="73152" cy="502920"/>
          </a:xfrm>
          <a:prstGeom prst="rect">
            <a:avLst/>
          </a:prstGeom>
          <a:solidFill>
            <a:srgbClr val="005C2B"/>
          </a:solidFill>
          <a:ln>
            <a:noFill/>
          </a:ln>
          <a:effectLst/>
        </p:spPr>
        <p:txBody>
          <a:bodyPr rtlCol="0" anchor="ctr"/>
          <a:lstStyle/>
          <a:p>
            <a:pPr algn="ctr"/>
            <a:endParaRPr/>
          </a:p>
        </p:txBody>
      </p:sp>
      <p:sp>
        <p:nvSpPr>
          <p:cNvPr id="31" name="Rectangle 30"/>
          <p:cNvSpPr/>
          <p:nvPr/>
        </p:nvSpPr>
        <p:spPr>
          <a:xfrm>
            <a:off x="9364827" y="4700016"/>
            <a:ext cx="2278227" cy="502920"/>
          </a:xfrm>
          <a:prstGeom prst="rect">
            <a:avLst/>
          </a:prstGeom>
          <a:solidFill>
            <a:srgbClr val="F2F2F2"/>
          </a:solidFill>
          <a:ln>
            <a:noFill/>
          </a:ln>
          <a:effectLst/>
        </p:spPr>
        <p:txBody>
          <a:bodyPr wrap="square" lIns="274320" tIns="36576" rIns="73152" bIns="36576" rtlCol="0" anchor="ctr"/>
          <a:lstStyle/>
          <a:p>
            <a:pPr algn="l"/>
            <a:r>
              <a:rPr sz="1500" b="0">
                <a:solidFill>
                  <a:srgbClr val="111111"/>
                </a:solidFill>
                <a:latin typeface="Public Sans" pitchFamily="34" charset="0"/>
              </a:rPr>
              <a:t>RCCM et IFU</a:t>
            </a:r>
          </a:p>
        </p:txBody>
      </p:sp>
      <p:sp>
        <p:nvSpPr>
          <p:cNvPr id="32" name="Rectangle 31"/>
          <p:cNvSpPr/>
          <p:nvPr/>
        </p:nvSpPr>
        <p:spPr>
          <a:xfrm>
            <a:off x="9364827" y="4700016"/>
            <a:ext cx="73152" cy="502920"/>
          </a:xfrm>
          <a:prstGeom prst="rect">
            <a:avLst/>
          </a:prstGeom>
          <a:solidFill>
            <a:srgbClr val="005C2B"/>
          </a:solidFill>
          <a:ln>
            <a:noFill/>
          </a:ln>
          <a:effectLst/>
        </p:spPr>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Carte et back-office</a:t>
            </a:r>
          </a:p>
        </p:txBody>
      </p:sp>
      <p:sp>
        <p:nvSpPr>
          <p:cNvPr id="3" name="TextBox 2"/>
          <p:cNvSpPr txBox="1"/>
          <p:nvPr/>
        </p:nvSpPr>
        <p:spPr>
          <a:xfrm>
            <a:off x="548640" y="658368"/>
            <a:ext cx="11094415" cy="406265"/>
          </a:xfrm>
          <a:prstGeom prst="rect">
            <a:avLst/>
          </a:prstGeom>
          <a:noFill/>
        </p:spPr>
        <p:txBody>
          <a:bodyPr wrap="square" lIns="0" tIns="18288" rIns="0" bIns="18288" anchor="t">
            <a:spAutoFit/>
          </a:bodyPr>
          <a:lstStyle/>
          <a:p>
            <a:pPr algn="l"/>
            <a:r>
              <a:rPr sz="2400" b="1" dirty="0">
                <a:solidFill>
                  <a:srgbClr val="111111"/>
                </a:solidFill>
                <a:latin typeface="Public Sans" pitchFamily="34" charset="0"/>
              </a:rPr>
              <a:t>L</a:t>
            </a:r>
            <a:r>
              <a:rPr lang="fr-FR" sz="2400" b="1" dirty="0">
                <a:solidFill>
                  <a:srgbClr val="111111"/>
                </a:solidFill>
                <a:latin typeface="Public Sans" pitchFamily="34" charset="0"/>
              </a:rPr>
              <a:t>es</a:t>
            </a:r>
            <a:r>
              <a:rPr sz="2400" b="1" dirty="0">
                <a:solidFill>
                  <a:srgbClr val="111111"/>
                </a:solidFill>
                <a:latin typeface="Public Sans" pitchFamily="34" charset="0"/>
              </a:rPr>
              <a:t> carte</a:t>
            </a:r>
            <a:r>
              <a:rPr lang="fr-FR" sz="2400" b="1" dirty="0">
                <a:solidFill>
                  <a:srgbClr val="111111"/>
                </a:solidFill>
                <a:latin typeface="Public Sans" pitchFamily="34" charset="0"/>
              </a:rPr>
              <a:t>s plusieurs types (personnels, investisseurs, commerçants)</a:t>
            </a:r>
            <a:r>
              <a:rPr sz="2400" b="1" dirty="0">
                <a:solidFill>
                  <a:srgbClr val="111111"/>
                </a:solidFill>
                <a:latin typeface="Public Sans" pitchFamily="34" charset="0"/>
              </a:rPr>
              <a:t> </a:t>
            </a:r>
            <a:endParaRPr lang="fr-FR" sz="2400" b="1" dirty="0">
              <a:solidFill>
                <a:srgbClr val="111111"/>
              </a:solidFill>
              <a:latin typeface="Public Sans" pitchFamily="34" charset="0"/>
            </a:endParaRPr>
          </a:p>
        </p:txBody>
      </p:sp>
      <p:cxnSp>
        <p:nvCxnSpPr>
          <p:cNvPr id="4" name="Connector 3"/>
          <p:cNvCxnSpPr/>
          <p:nvPr/>
        </p:nvCxnSpPr>
        <p:spPr>
          <a:xfrm>
            <a:off x="264791" y="1464776"/>
            <a:ext cx="1097280" cy="0"/>
          </a:xfrm>
          <a:prstGeom prst="line">
            <a:avLst/>
          </a:prstGeom>
          <a:ln w="25400">
            <a:solidFill>
              <a:srgbClr val="005C2B"/>
            </a:solidFill>
          </a:ln>
          <a:effectLst/>
        </p:spPr>
      </p:cxnSp>
      <p:sp>
        <p:nvSpPr>
          <p:cNvPr id="5" name="TextBox 4"/>
          <p:cNvSpPr txBox="1"/>
          <p:nvPr/>
        </p:nvSpPr>
        <p:spPr>
          <a:xfrm>
            <a:off x="548640" y="1629542"/>
            <a:ext cx="11094415" cy="344710"/>
          </a:xfrm>
          <a:prstGeom prst="rect">
            <a:avLst/>
          </a:prstGeom>
          <a:noFill/>
        </p:spPr>
        <p:txBody>
          <a:bodyPr wrap="square" lIns="0" tIns="18288" rIns="0" bIns="18288" anchor="t">
            <a:spAutoFit/>
          </a:bodyPr>
          <a:lstStyle/>
          <a:p>
            <a:pPr algn="l"/>
            <a:r>
              <a:rPr sz="2000" b="1" dirty="0">
                <a:solidFill>
                  <a:srgbClr val="111111"/>
                </a:solidFill>
                <a:latin typeface="Public Sans" pitchFamily="34" charset="0"/>
              </a:rPr>
              <a:t>La carte </a:t>
            </a:r>
            <a:r>
              <a:rPr sz="2000" b="1" dirty="0" err="1">
                <a:solidFill>
                  <a:srgbClr val="111111"/>
                </a:solidFill>
                <a:latin typeface="Public Sans" pitchFamily="34" charset="0"/>
              </a:rPr>
              <a:t>commerçant</a:t>
            </a:r>
            <a:r>
              <a:rPr sz="2000" b="1" dirty="0">
                <a:solidFill>
                  <a:srgbClr val="111111"/>
                </a:solidFill>
                <a:latin typeface="Public Sans" pitchFamily="34" charset="0"/>
              </a:rPr>
              <a:t> est </a:t>
            </a:r>
            <a:r>
              <a:rPr sz="2000" b="1" dirty="0" err="1">
                <a:solidFill>
                  <a:srgbClr val="111111"/>
                </a:solidFill>
                <a:latin typeface="Public Sans" pitchFamily="34" charset="0"/>
              </a:rPr>
              <a:t>l’aboutissement</a:t>
            </a:r>
            <a:r>
              <a:rPr sz="2000" b="1" dirty="0">
                <a:solidFill>
                  <a:srgbClr val="111111"/>
                </a:solidFill>
                <a:latin typeface="Public Sans" pitchFamily="34" charset="0"/>
              </a:rPr>
              <a:t> du </a:t>
            </a:r>
            <a:r>
              <a:rPr sz="2000" b="1" dirty="0" err="1">
                <a:solidFill>
                  <a:srgbClr val="111111"/>
                </a:solidFill>
                <a:latin typeface="Public Sans" pitchFamily="34" charset="0"/>
              </a:rPr>
              <a:t>parcours</a:t>
            </a:r>
            <a:r>
              <a:rPr sz="2000" b="1" dirty="0">
                <a:solidFill>
                  <a:srgbClr val="111111"/>
                </a:solidFill>
                <a:latin typeface="Public Sans" pitchFamily="34" charset="0"/>
              </a:rPr>
              <a:t>.</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10</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TextBox 11"/>
          <p:cNvSpPr txBox="1"/>
          <p:nvPr/>
        </p:nvSpPr>
        <p:spPr>
          <a:xfrm>
            <a:off x="548640" y="2148840"/>
            <a:ext cx="10515600" cy="2377440"/>
          </a:xfrm>
          <a:prstGeom prst="rect">
            <a:avLst/>
          </a:prstGeom>
          <a:noFill/>
        </p:spPr>
        <p:txBody>
          <a:bodyPr wrap="square" lIns="0" rIns="0">
            <a:spAutoFit/>
          </a:bodyPr>
          <a:lstStyle/>
          <a:p>
            <a:pPr marL="274320" indent="-274320">
              <a:spcAft>
                <a:spcPts val="1200"/>
              </a:spcAft>
              <a:buFont typeface="Public Sans" pitchFamily="34" charset="0"/>
              <a:buChar char="•"/>
            </a:pPr>
            <a:r>
              <a:rPr sz="2000" dirty="0" err="1">
                <a:solidFill>
                  <a:srgbClr val="111111"/>
                </a:solidFill>
                <a:latin typeface="Public Sans" pitchFamily="34" charset="0"/>
              </a:rPr>
              <a:t>Délivrée</a:t>
            </a:r>
            <a:r>
              <a:rPr sz="2000" dirty="0">
                <a:solidFill>
                  <a:srgbClr val="111111"/>
                </a:solidFill>
                <a:latin typeface="Public Sans" pitchFamily="34" charset="0"/>
              </a:rPr>
              <a:t> après </a:t>
            </a:r>
            <a:r>
              <a:rPr sz="2000" dirty="0" err="1">
                <a:solidFill>
                  <a:srgbClr val="111111"/>
                </a:solidFill>
                <a:latin typeface="Public Sans" pitchFamily="34" charset="0"/>
              </a:rPr>
              <a:t>l’attribution</a:t>
            </a:r>
            <a:r>
              <a:rPr sz="2000" dirty="0">
                <a:solidFill>
                  <a:srgbClr val="111111"/>
                </a:solidFill>
                <a:latin typeface="Public Sans" pitchFamily="34" charset="0"/>
              </a:rPr>
              <a:t> et la validation de </a:t>
            </a:r>
            <a:r>
              <a:rPr sz="2000" dirty="0" err="1">
                <a:solidFill>
                  <a:srgbClr val="111111"/>
                </a:solidFill>
                <a:latin typeface="Public Sans" pitchFamily="34" charset="0"/>
              </a:rPr>
              <a:t>l’identité</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a:solidFill>
                  <a:srgbClr val="111111"/>
                </a:solidFill>
                <a:latin typeface="Public Sans" pitchFamily="34" charset="0"/>
              </a:rPr>
              <a:t>Consultable dans « Mon </a:t>
            </a:r>
            <a:r>
              <a:rPr sz="2000" dirty="0" err="1">
                <a:solidFill>
                  <a:srgbClr val="111111"/>
                </a:solidFill>
                <a:latin typeface="Public Sans" pitchFamily="34" charset="0"/>
              </a:rPr>
              <a:t>espace</a:t>
            </a:r>
            <a:r>
              <a:rPr sz="2000" dirty="0">
                <a:solidFill>
                  <a:srgbClr val="111111"/>
                </a:solidFill>
                <a:latin typeface="Public Sans" pitchFamily="34" charset="0"/>
              </a:rPr>
              <a:t> », </a:t>
            </a:r>
            <a:r>
              <a:rPr sz="2000" dirty="0" err="1">
                <a:solidFill>
                  <a:srgbClr val="111111"/>
                </a:solidFill>
                <a:latin typeface="Public Sans" pitchFamily="34" charset="0"/>
              </a:rPr>
              <a:t>imprimée</a:t>
            </a:r>
            <a:r>
              <a:rPr sz="2000" dirty="0">
                <a:solidFill>
                  <a:srgbClr val="111111"/>
                </a:solidFill>
                <a:latin typeface="Public Sans" pitchFamily="34" charset="0"/>
              </a:rPr>
              <a:t> au guichet</a:t>
            </a:r>
          </a:p>
          <a:p>
            <a:pPr marL="274320" indent="-274320">
              <a:spcAft>
                <a:spcPts val="1200"/>
              </a:spcAft>
              <a:buFont typeface="Public Sans" pitchFamily="34" charset="0"/>
              <a:buChar char="•"/>
            </a:pPr>
            <a:r>
              <a:rPr sz="2000" dirty="0" err="1">
                <a:solidFill>
                  <a:srgbClr val="111111"/>
                </a:solidFill>
                <a:latin typeface="Public Sans" pitchFamily="34" charset="0"/>
              </a:rPr>
              <a:t>Vérifiable</a:t>
            </a:r>
            <a:r>
              <a:rPr sz="2000" dirty="0">
                <a:solidFill>
                  <a:srgbClr val="111111"/>
                </a:solidFill>
                <a:latin typeface="Public Sans" pitchFamily="34" charset="0"/>
              </a:rPr>
              <a:t> par QR code, </a:t>
            </a:r>
            <a:r>
              <a:rPr sz="2000" dirty="0" err="1">
                <a:solidFill>
                  <a:srgbClr val="111111"/>
                </a:solidFill>
                <a:latin typeface="Public Sans" pitchFamily="34" charset="0"/>
              </a:rPr>
              <a:t>prévue</a:t>
            </a:r>
            <a:r>
              <a:rPr sz="2000" dirty="0">
                <a:solidFill>
                  <a:srgbClr val="111111"/>
                </a:solidFill>
                <a:latin typeface="Public Sans" pitchFamily="34" charset="0"/>
              </a:rPr>
              <a:t> pour la lecture aux </a:t>
            </a:r>
            <a:r>
              <a:rPr sz="2000" dirty="0" err="1">
                <a:solidFill>
                  <a:srgbClr val="111111"/>
                </a:solidFill>
                <a:latin typeface="Public Sans" pitchFamily="34" charset="0"/>
              </a:rPr>
              <a:t>portiques</a:t>
            </a:r>
            <a:endParaRPr sz="2000" dirty="0">
              <a:solidFill>
                <a:srgbClr val="111111"/>
              </a:solidFill>
              <a:latin typeface="Public Sans" pitchFamily="34" charset="0"/>
            </a:endParaRPr>
          </a:p>
          <a:p>
            <a:pPr marL="274320" indent="-274320">
              <a:spcAft>
                <a:spcPts val="1200"/>
              </a:spcAft>
              <a:buFont typeface="Public Sans" pitchFamily="34" charset="0"/>
              <a:buChar char="•"/>
            </a:pPr>
            <a:r>
              <a:rPr sz="2000" dirty="0" err="1">
                <a:solidFill>
                  <a:srgbClr val="111111"/>
                </a:solidFill>
                <a:latin typeface="Public Sans" pitchFamily="34" charset="0"/>
              </a:rPr>
              <a:t>Révocable</a:t>
            </a:r>
            <a:r>
              <a:rPr sz="2000" dirty="0">
                <a:solidFill>
                  <a:srgbClr val="111111"/>
                </a:solidFill>
                <a:latin typeface="Public Sans" pitchFamily="34" charset="0"/>
              </a:rPr>
              <a:t>, </a:t>
            </a:r>
            <a:r>
              <a:rPr sz="2000" dirty="0" err="1">
                <a:solidFill>
                  <a:srgbClr val="111111"/>
                </a:solidFill>
                <a:latin typeface="Public Sans" pitchFamily="34" charset="0"/>
              </a:rPr>
              <a:t>puis</a:t>
            </a:r>
            <a:r>
              <a:rPr sz="2000" dirty="0">
                <a:solidFill>
                  <a:srgbClr val="111111"/>
                </a:solidFill>
                <a:latin typeface="Public Sans" pitchFamily="34" charset="0"/>
              </a:rPr>
              <a:t> </a:t>
            </a:r>
            <a:r>
              <a:rPr sz="2000" dirty="0" err="1">
                <a:solidFill>
                  <a:srgbClr val="111111"/>
                </a:solidFill>
                <a:latin typeface="Public Sans" pitchFamily="34" charset="0"/>
              </a:rPr>
              <a:t>réémise</a:t>
            </a:r>
            <a:r>
              <a:rPr sz="2000" dirty="0">
                <a:solidFill>
                  <a:srgbClr val="111111"/>
                </a:solidFill>
                <a:latin typeface="Public Sans" pitchFamily="34" charset="0"/>
              </a:rPr>
              <a:t> </a:t>
            </a:r>
            <a:r>
              <a:rPr sz="2000" dirty="0" err="1">
                <a:solidFill>
                  <a:srgbClr val="111111"/>
                </a:solidFill>
                <a:latin typeface="Public Sans" pitchFamily="34" charset="0"/>
              </a:rPr>
              <a:t>en</a:t>
            </a:r>
            <a:r>
              <a:rPr sz="2000" dirty="0">
                <a:solidFill>
                  <a:srgbClr val="111111"/>
                </a:solidFill>
                <a:latin typeface="Public Sans" pitchFamily="34" charset="0"/>
              </a:rPr>
              <a:t> </a:t>
            </a:r>
            <a:r>
              <a:rPr sz="2000" dirty="0" err="1">
                <a:solidFill>
                  <a:srgbClr val="111111"/>
                </a:solidFill>
                <a:latin typeface="Public Sans" pitchFamily="34" charset="0"/>
              </a:rPr>
              <a:t>cas</a:t>
            </a:r>
            <a:r>
              <a:rPr sz="2000" dirty="0">
                <a:solidFill>
                  <a:srgbClr val="111111"/>
                </a:solidFill>
                <a:latin typeface="Public Sans" pitchFamily="34" charset="0"/>
              </a:rPr>
              <a:t> de </a:t>
            </a:r>
            <a:r>
              <a:rPr sz="2000" dirty="0" err="1">
                <a:solidFill>
                  <a:srgbClr val="111111"/>
                </a:solidFill>
                <a:latin typeface="Public Sans" pitchFamily="34" charset="0"/>
              </a:rPr>
              <a:t>perte</a:t>
            </a:r>
            <a:endParaRPr sz="2000" dirty="0">
              <a:solidFill>
                <a:srgbClr val="111111"/>
              </a:solidFill>
              <a:latin typeface="Public Sans" pitchFamily="34" charset="0"/>
            </a:endParaRPr>
          </a:p>
        </p:txBody>
      </p:sp>
      <p:sp>
        <p:nvSpPr>
          <p:cNvPr id="13" name="Rectangle 12"/>
          <p:cNvSpPr/>
          <p:nvPr/>
        </p:nvSpPr>
        <p:spPr>
          <a:xfrm>
            <a:off x="548640" y="4297680"/>
            <a:ext cx="2464993" cy="82296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800" b="1">
                <a:solidFill>
                  <a:srgbClr val="111111"/>
                </a:solidFill>
                <a:latin typeface="Public Sans" pitchFamily="34" charset="0"/>
              </a:rPr>
              <a:t>Attribution</a:t>
            </a:r>
          </a:p>
        </p:txBody>
      </p:sp>
      <p:cxnSp>
        <p:nvCxnSpPr>
          <p:cNvPr id="14" name="Connector 13"/>
          <p:cNvCxnSpPr/>
          <p:nvPr/>
        </p:nvCxnSpPr>
        <p:spPr>
          <a:xfrm>
            <a:off x="3050209" y="4709160"/>
            <a:ext cx="338328" cy="0"/>
          </a:xfrm>
          <a:prstGeom prst="line">
            <a:avLst/>
          </a:prstGeom>
          <a:ln w="12700">
            <a:solidFill>
              <a:srgbClr val="111111"/>
            </a:solidFill>
            <a:tailEnd type="triangle" w="med" len="med"/>
          </a:ln>
          <a:effectLst/>
        </p:spPr>
      </p:cxnSp>
      <p:sp>
        <p:nvSpPr>
          <p:cNvPr id="15" name="Rectangle 14"/>
          <p:cNvSpPr/>
          <p:nvPr/>
        </p:nvSpPr>
        <p:spPr>
          <a:xfrm>
            <a:off x="3425113" y="4297680"/>
            <a:ext cx="2464993" cy="82296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800" b="1">
                <a:solidFill>
                  <a:srgbClr val="111111"/>
                </a:solidFill>
                <a:latin typeface="Public Sans" pitchFamily="34" charset="0"/>
              </a:rPr>
              <a:t>Carte émise</a:t>
            </a:r>
          </a:p>
        </p:txBody>
      </p:sp>
      <p:cxnSp>
        <p:nvCxnSpPr>
          <p:cNvPr id="16" name="Connector 15"/>
          <p:cNvCxnSpPr/>
          <p:nvPr/>
        </p:nvCxnSpPr>
        <p:spPr>
          <a:xfrm>
            <a:off x="5926682" y="4709160"/>
            <a:ext cx="338328" cy="0"/>
          </a:xfrm>
          <a:prstGeom prst="line">
            <a:avLst/>
          </a:prstGeom>
          <a:ln w="12700">
            <a:solidFill>
              <a:srgbClr val="111111"/>
            </a:solidFill>
            <a:tailEnd type="triangle" w="med" len="med"/>
          </a:ln>
          <a:effectLst/>
        </p:spPr>
      </p:cxnSp>
      <p:sp>
        <p:nvSpPr>
          <p:cNvPr id="17" name="Rectangle 16"/>
          <p:cNvSpPr/>
          <p:nvPr/>
        </p:nvSpPr>
        <p:spPr>
          <a:xfrm>
            <a:off x="6301586" y="4297680"/>
            <a:ext cx="2464993" cy="82296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800" b="1">
                <a:solidFill>
                  <a:srgbClr val="111111"/>
                </a:solidFill>
                <a:latin typeface="Public Sans" pitchFamily="34" charset="0"/>
              </a:rPr>
              <a:t>Impression au guichet</a:t>
            </a:r>
          </a:p>
        </p:txBody>
      </p:sp>
      <p:cxnSp>
        <p:nvCxnSpPr>
          <p:cNvPr id="18" name="Connector 17"/>
          <p:cNvCxnSpPr/>
          <p:nvPr/>
        </p:nvCxnSpPr>
        <p:spPr>
          <a:xfrm>
            <a:off x="8803155" y="4709160"/>
            <a:ext cx="338328" cy="0"/>
          </a:xfrm>
          <a:prstGeom prst="line">
            <a:avLst/>
          </a:prstGeom>
          <a:ln w="12700">
            <a:solidFill>
              <a:srgbClr val="111111"/>
            </a:solidFill>
            <a:tailEnd type="triangle" w="med" len="med"/>
          </a:ln>
          <a:effectLst/>
        </p:spPr>
      </p:cxnSp>
      <p:sp>
        <p:nvSpPr>
          <p:cNvPr id="19" name="Rectangle 18"/>
          <p:cNvSpPr/>
          <p:nvPr/>
        </p:nvSpPr>
        <p:spPr>
          <a:xfrm>
            <a:off x="9178059" y="4297680"/>
            <a:ext cx="2464993" cy="822960"/>
          </a:xfrm>
          <a:prstGeom prst="rect">
            <a:avLst/>
          </a:prstGeom>
          <a:solidFill>
            <a:srgbClr val="F2F2F2"/>
          </a:solidFill>
          <a:ln w="12700">
            <a:solidFill>
              <a:srgbClr val="111111"/>
            </a:solidFill>
          </a:ln>
          <a:effectLst/>
        </p:spPr>
        <p:txBody>
          <a:bodyPr wrap="square" lIns="73152" tIns="36576" rIns="73152" bIns="36576" rtlCol="0" anchor="ctr"/>
          <a:lstStyle/>
          <a:p>
            <a:pPr algn="ctr"/>
            <a:r>
              <a:rPr sz="1800" b="1">
                <a:solidFill>
                  <a:srgbClr val="111111"/>
                </a:solidFill>
                <a:latin typeface="Public Sans" pitchFamily="34" charset="0"/>
              </a:rPr>
              <a:t>Lecture prévue aux portiques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Carte et back-office</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Le back-office</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Aucune demande ne se perd, et aucune action ne passe sans trace.</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11</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pic>
        <p:nvPicPr>
          <p:cNvPr id="12" name="Picture 11" descr="5-tableau-de-bord.png"/>
          <p:cNvPicPr>
            <a:picLocks noChangeAspect="1"/>
          </p:cNvPicPr>
          <p:nvPr/>
        </p:nvPicPr>
        <p:blipFill>
          <a:blip r:embed="rId4"/>
          <a:stretch>
            <a:fillRect/>
          </a:stretch>
        </p:blipFill>
        <p:spPr>
          <a:xfrm>
            <a:off x="548640" y="2148840"/>
            <a:ext cx="11094415" cy="2336761"/>
          </a:xfrm>
          <a:prstGeom prst="rect">
            <a:avLst/>
          </a:prstGeom>
          <a:ln w="9525">
            <a:solidFill>
              <a:srgbClr val="D9D9D9"/>
            </a:solidFill>
          </a:ln>
        </p:spPr>
      </p:pic>
      <p:sp>
        <p:nvSpPr>
          <p:cNvPr id="13" name="TextBox 12"/>
          <p:cNvSpPr txBox="1"/>
          <p:nvPr/>
        </p:nvSpPr>
        <p:spPr>
          <a:xfrm>
            <a:off x="548640" y="4622761"/>
            <a:ext cx="11094415" cy="36576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Tableau de bord du profil validateur</a:t>
            </a:r>
          </a:p>
        </p:txBody>
      </p:sp>
      <p:sp>
        <p:nvSpPr>
          <p:cNvPr id="14" name="TextBox 13"/>
          <p:cNvSpPr txBox="1"/>
          <p:nvPr/>
        </p:nvSpPr>
        <p:spPr>
          <a:xfrm>
            <a:off x="548640" y="5034241"/>
            <a:ext cx="11094415" cy="365760"/>
          </a:xfrm>
          <a:prstGeom prst="rect">
            <a:avLst/>
          </a:prstGeom>
          <a:noFill/>
        </p:spPr>
        <p:txBody>
          <a:bodyPr wrap="square" lIns="0" tIns="18288" rIns="0" bIns="18288" anchor="t">
            <a:spAutoFit/>
          </a:bodyPr>
          <a:lstStyle/>
          <a:p>
            <a:pPr algn="ctr"/>
            <a:r>
              <a:rPr sz="1600" b="0">
                <a:solidFill>
                  <a:srgbClr val="111111"/>
                </a:solidFill>
                <a:latin typeface="Public Sans" pitchFamily="34" charset="0"/>
              </a:rPr>
              <a:t>Un tableau de bord par profil · rubriques « À valider » · journal d’audit · exports · double authentification</a:t>
            </a:r>
          </a:p>
        </p:txBody>
      </p:sp>
      <p:sp>
        <p:nvSpPr>
          <p:cNvPr id="15" name="TextBox 14"/>
          <p:cNvSpPr txBox="1"/>
          <p:nvPr/>
        </p:nvSpPr>
        <p:spPr>
          <a:xfrm>
            <a:off x="548640" y="5989320"/>
            <a:ext cx="11094415" cy="274320"/>
          </a:xfrm>
          <a:prstGeom prst="rect">
            <a:avLst/>
          </a:prstGeom>
          <a:noFill/>
        </p:spPr>
        <p:txBody>
          <a:bodyPr wrap="square" lIns="0" tIns="18288" rIns="0" bIns="18288" anchor="t">
            <a:spAutoFit/>
          </a:bodyPr>
          <a:lstStyle/>
          <a:p>
            <a:pPr algn="ctr"/>
            <a:r>
              <a:rPr sz="1200" b="0">
                <a:solidFill>
                  <a:srgbClr val="555555"/>
                </a:solidFill>
                <a:latin typeface="Public Sans" pitchFamily="34" charset="0"/>
              </a:rPr>
              <a:t>Données fictives de démonstration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Démonstration</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Démonstration : le site public</a:t>
            </a:r>
          </a:p>
        </p:txBody>
      </p:sp>
      <p:cxnSp>
        <p:nvCxnSpPr>
          <p:cNvPr id="4" name="Connector 3"/>
          <p:cNvCxnSpPr/>
          <p:nvPr/>
        </p:nvCxnSpPr>
        <p:spPr>
          <a:xfrm>
            <a:off x="548640" y="1325880"/>
            <a:ext cx="1097280" cy="0"/>
          </a:xfrm>
          <a:prstGeom prst="line">
            <a:avLst/>
          </a:prstGeom>
          <a:ln w="25400">
            <a:solidFill>
              <a:srgbClr val="005C2B"/>
            </a:solidFill>
          </a:ln>
          <a:effectLst/>
        </p:spPr>
      </p:cxnSp>
      <p:pic>
        <p:nvPicPr>
          <p:cNvPr id="5" name="Picture 4" descr="armoiries.png"/>
          <p:cNvPicPr>
            <a:picLocks noChangeAspect="1"/>
          </p:cNvPicPr>
          <p:nvPr/>
        </p:nvPicPr>
        <p:blipFill>
          <a:blip r:embed="rId3"/>
          <a:stretch>
            <a:fillRect/>
          </a:stretch>
        </p:blipFill>
        <p:spPr>
          <a:xfrm>
            <a:off x="548640" y="6355080"/>
            <a:ext cx="264791" cy="310896"/>
          </a:xfrm>
          <a:prstGeom prst="rect">
            <a:avLst/>
          </a:prstGeom>
        </p:spPr>
      </p:pic>
      <p:sp>
        <p:nvSpPr>
          <p:cNvPr id="6" name="TextBox 5"/>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7" name="TextBox 6"/>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12</a:t>
            </a:r>
          </a:p>
        </p:txBody>
      </p:sp>
      <p:sp>
        <p:nvSpPr>
          <p:cNvPr id="8" name="Rectangle 7"/>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9" name="Rectangle 8"/>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0" name="Rectangle 9"/>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pic>
        <p:nvPicPr>
          <p:cNvPr id="11" name="Picture 10" descr="1-accueil-rogne.png"/>
          <p:cNvPicPr>
            <a:picLocks noChangeAspect="1"/>
          </p:cNvPicPr>
          <p:nvPr/>
        </p:nvPicPr>
        <p:blipFill>
          <a:blip r:embed="rId4"/>
          <a:stretch>
            <a:fillRect/>
          </a:stretch>
        </p:blipFill>
        <p:spPr>
          <a:xfrm>
            <a:off x="548640" y="1508760"/>
            <a:ext cx="5410047" cy="2119399"/>
          </a:xfrm>
          <a:prstGeom prst="rect">
            <a:avLst/>
          </a:prstGeom>
          <a:ln w="9525">
            <a:solidFill>
              <a:srgbClr val="D9D9D9"/>
            </a:solidFill>
          </a:ln>
        </p:spPr>
      </p:pic>
      <p:sp>
        <p:nvSpPr>
          <p:cNvPr id="12" name="TextBox 11"/>
          <p:cNvSpPr txBox="1"/>
          <p:nvPr/>
        </p:nvSpPr>
        <p:spPr>
          <a:xfrm>
            <a:off x="548640" y="3719599"/>
            <a:ext cx="5410047"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Accueil du site public</a:t>
            </a:r>
          </a:p>
        </p:txBody>
      </p:sp>
      <p:pic>
        <p:nvPicPr>
          <p:cNvPr id="13" name="Picture 12" descr="2-plan-fiche-rogne.png"/>
          <p:cNvPicPr>
            <a:picLocks noChangeAspect="1"/>
          </p:cNvPicPr>
          <p:nvPr/>
        </p:nvPicPr>
        <p:blipFill>
          <a:blip r:embed="rId5"/>
          <a:stretch>
            <a:fillRect/>
          </a:stretch>
        </p:blipFill>
        <p:spPr>
          <a:xfrm>
            <a:off x="6233007" y="1508760"/>
            <a:ext cx="5410047" cy="2923470"/>
          </a:xfrm>
          <a:prstGeom prst="rect">
            <a:avLst/>
          </a:prstGeom>
          <a:ln w="9525">
            <a:solidFill>
              <a:srgbClr val="D9D9D9"/>
            </a:solidFill>
          </a:ln>
        </p:spPr>
      </p:pic>
      <p:sp>
        <p:nvSpPr>
          <p:cNvPr id="14" name="TextBox 13"/>
          <p:cNvSpPr txBox="1"/>
          <p:nvPr/>
        </p:nvSpPr>
        <p:spPr>
          <a:xfrm>
            <a:off x="6233007" y="4523670"/>
            <a:ext cx="5410047"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Plan des boutiques et fiche de l’emplacement choisi</a:t>
            </a:r>
          </a:p>
        </p:txBody>
      </p:sp>
      <p:sp>
        <p:nvSpPr>
          <p:cNvPr id="15" name="TextBox 14"/>
          <p:cNvSpPr txBox="1"/>
          <p:nvPr/>
        </p:nvSpPr>
        <p:spPr>
          <a:xfrm>
            <a:off x="548640" y="5989320"/>
            <a:ext cx="11094415" cy="274320"/>
          </a:xfrm>
          <a:prstGeom prst="rect">
            <a:avLst/>
          </a:prstGeom>
          <a:noFill/>
        </p:spPr>
        <p:txBody>
          <a:bodyPr wrap="square" lIns="0" tIns="18288" rIns="0" bIns="18288" anchor="t">
            <a:spAutoFit/>
          </a:bodyPr>
          <a:lstStyle/>
          <a:p>
            <a:pPr algn="ctr"/>
            <a:r>
              <a:rPr sz="1200" b="0">
                <a:solidFill>
                  <a:srgbClr val="555555"/>
                </a:solidFill>
                <a:latin typeface="Public Sans" pitchFamily="34" charset="0"/>
              </a:rPr>
              <a:t>Données fictives de démonstration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Démonstration</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Démonstration : souscription et carte</a:t>
            </a:r>
          </a:p>
        </p:txBody>
      </p:sp>
      <p:cxnSp>
        <p:nvCxnSpPr>
          <p:cNvPr id="4" name="Connector 3"/>
          <p:cNvCxnSpPr/>
          <p:nvPr/>
        </p:nvCxnSpPr>
        <p:spPr>
          <a:xfrm>
            <a:off x="548640" y="1325880"/>
            <a:ext cx="1097280" cy="0"/>
          </a:xfrm>
          <a:prstGeom prst="line">
            <a:avLst/>
          </a:prstGeom>
          <a:ln w="25400">
            <a:solidFill>
              <a:srgbClr val="005C2B"/>
            </a:solidFill>
          </a:ln>
          <a:effectLst/>
        </p:spPr>
      </p:cxnSp>
      <p:pic>
        <p:nvPicPr>
          <p:cNvPr id="5" name="Picture 4" descr="armoiries.png"/>
          <p:cNvPicPr>
            <a:picLocks noChangeAspect="1"/>
          </p:cNvPicPr>
          <p:nvPr/>
        </p:nvPicPr>
        <p:blipFill>
          <a:blip r:embed="rId3"/>
          <a:stretch>
            <a:fillRect/>
          </a:stretch>
        </p:blipFill>
        <p:spPr>
          <a:xfrm>
            <a:off x="548640" y="6355080"/>
            <a:ext cx="264791" cy="310896"/>
          </a:xfrm>
          <a:prstGeom prst="rect">
            <a:avLst/>
          </a:prstGeom>
        </p:spPr>
      </p:pic>
      <p:sp>
        <p:nvSpPr>
          <p:cNvPr id="6" name="TextBox 5"/>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7" name="TextBox 6"/>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13</a:t>
            </a:r>
          </a:p>
        </p:txBody>
      </p:sp>
      <p:sp>
        <p:nvSpPr>
          <p:cNvPr id="8" name="Rectangle 7"/>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9" name="Rectangle 8"/>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0" name="Rectangle 9"/>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pic>
        <p:nvPicPr>
          <p:cNvPr id="11" name="Picture 10" descr="3-engagements-rogne.png"/>
          <p:cNvPicPr>
            <a:picLocks noChangeAspect="1"/>
          </p:cNvPicPr>
          <p:nvPr/>
        </p:nvPicPr>
        <p:blipFill>
          <a:blip r:embed="rId4"/>
          <a:stretch>
            <a:fillRect/>
          </a:stretch>
        </p:blipFill>
        <p:spPr>
          <a:xfrm>
            <a:off x="548640" y="1508760"/>
            <a:ext cx="4544439" cy="2840274"/>
          </a:xfrm>
          <a:prstGeom prst="rect">
            <a:avLst/>
          </a:prstGeom>
          <a:ln w="9525">
            <a:solidFill>
              <a:srgbClr val="D9D9D9"/>
            </a:solidFill>
          </a:ln>
        </p:spPr>
      </p:pic>
      <p:sp>
        <p:nvSpPr>
          <p:cNvPr id="12" name="TextBox 11"/>
          <p:cNvSpPr txBox="1"/>
          <p:nvPr/>
        </p:nvSpPr>
        <p:spPr>
          <a:xfrm>
            <a:off x="548640" y="4440474"/>
            <a:ext cx="4544439"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Souscription d’actions : les engagements à accepter</a:t>
            </a:r>
          </a:p>
        </p:txBody>
      </p:sp>
      <p:pic>
        <p:nvPicPr>
          <p:cNvPr id="13" name="Picture 12" descr="4-carte-rogne.png"/>
          <p:cNvPicPr>
            <a:picLocks noChangeAspect="1"/>
          </p:cNvPicPr>
          <p:nvPr/>
        </p:nvPicPr>
        <p:blipFill>
          <a:blip r:embed="rId5"/>
          <a:stretch>
            <a:fillRect/>
          </a:stretch>
        </p:blipFill>
        <p:spPr>
          <a:xfrm>
            <a:off x="5367399" y="1508760"/>
            <a:ext cx="6275655" cy="2682598"/>
          </a:xfrm>
          <a:prstGeom prst="rect">
            <a:avLst/>
          </a:prstGeom>
          <a:ln w="9525">
            <a:solidFill>
              <a:srgbClr val="D9D9D9"/>
            </a:solidFill>
          </a:ln>
        </p:spPr>
      </p:pic>
      <p:sp>
        <p:nvSpPr>
          <p:cNvPr id="14" name="TextBox 13"/>
          <p:cNvSpPr txBox="1"/>
          <p:nvPr/>
        </p:nvSpPr>
        <p:spPr>
          <a:xfrm>
            <a:off x="5367399" y="4282798"/>
            <a:ext cx="6275655" cy="320040"/>
          </a:xfrm>
          <a:prstGeom prst="rect">
            <a:avLst/>
          </a:prstGeom>
          <a:noFill/>
        </p:spPr>
        <p:txBody>
          <a:bodyPr wrap="square" lIns="0" tIns="18288" rIns="0" bIns="18288" anchor="t">
            <a:spAutoFit/>
          </a:bodyPr>
          <a:lstStyle/>
          <a:p>
            <a:pPr algn="ctr"/>
            <a:r>
              <a:rPr sz="1400" b="0">
                <a:solidFill>
                  <a:srgbClr val="555555"/>
                </a:solidFill>
                <a:latin typeface="Public Sans" pitchFamily="34" charset="0"/>
              </a:rPr>
              <a:t>Carte d’un commerçant fictif</a:t>
            </a:r>
          </a:p>
        </p:txBody>
      </p:sp>
      <p:sp>
        <p:nvSpPr>
          <p:cNvPr id="15" name="TextBox 14"/>
          <p:cNvSpPr txBox="1"/>
          <p:nvPr/>
        </p:nvSpPr>
        <p:spPr>
          <a:xfrm>
            <a:off x="548640" y="5989320"/>
            <a:ext cx="11094415" cy="274320"/>
          </a:xfrm>
          <a:prstGeom prst="rect">
            <a:avLst/>
          </a:prstGeom>
          <a:noFill/>
        </p:spPr>
        <p:txBody>
          <a:bodyPr wrap="square" lIns="0" tIns="18288" rIns="0" bIns="18288" anchor="t">
            <a:spAutoFit/>
          </a:bodyPr>
          <a:lstStyle/>
          <a:p>
            <a:pPr algn="ctr"/>
            <a:r>
              <a:rPr sz="1200" b="0">
                <a:solidFill>
                  <a:srgbClr val="555555"/>
                </a:solidFill>
                <a:latin typeface="Public Sans" pitchFamily="34" charset="0"/>
              </a:rPr>
              <a:t>Données fictives de démonstration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320040"/>
          </a:xfrm>
          <a:prstGeom prst="rect">
            <a:avLst/>
          </a:prstGeom>
          <a:noFill/>
        </p:spPr>
        <p:txBody>
          <a:bodyPr wrap="square" lIns="0" tIns="18288" rIns="0" bIns="18288" anchor="t">
            <a:spAutoFit/>
          </a:bodyPr>
          <a:lstStyle/>
          <a:p>
            <a:pPr algn="l"/>
            <a:r>
              <a:rPr sz="1400" b="1">
                <a:solidFill>
                  <a:srgbClr val="005C2B"/>
                </a:solidFill>
                <a:latin typeface="Public Sans" pitchFamily="34" charset="0"/>
              </a:rPr>
              <a:t>Bilan</a:t>
            </a:r>
          </a:p>
        </p:txBody>
      </p:sp>
      <p:sp>
        <p:nvSpPr>
          <p:cNvPr id="3" name="TextBox 2"/>
          <p:cNvSpPr txBox="1"/>
          <p:nvPr/>
        </p:nvSpPr>
        <p:spPr>
          <a:xfrm>
            <a:off x="548640" y="658368"/>
            <a:ext cx="11094415" cy="594360"/>
          </a:xfrm>
          <a:prstGeom prst="rect">
            <a:avLst/>
          </a:prstGeom>
          <a:noFill/>
        </p:spPr>
        <p:txBody>
          <a:bodyPr wrap="square" lIns="0" tIns="18288" rIns="0" bIns="18288" anchor="t">
            <a:spAutoFit/>
          </a:bodyPr>
          <a:lstStyle/>
          <a:p>
            <a:pPr algn="l"/>
            <a:r>
              <a:rPr sz="3200" b="1">
                <a:solidFill>
                  <a:srgbClr val="111111"/>
                </a:solidFill>
                <a:latin typeface="Public Sans" pitchFamily="34" charset="0"/>
              </a:rPr>
              <a:t>Prochaines étapes</a:t>
            </a:r>
          </a:p>
        </p:txBody>
      </p:sp>
      <p:cxnSp>
        <p:nvCxnSpPr>
          <p:cNvPr id="4" name="Connector 3"/>
          <p:cNvCxnSpPr/>
          <p:nvPr/>
        </p:nvCxnSpPr>
        <p:spPr>
          <a:xfrm>
            <a:off x="548640" y="1325880"/>
            <a:ext cx="1097280" cy="0"/>
          </a:xfrm>
          <a:prstGeom prst="line">
            <a:avLst/>
          </a:prstGeom>
          <a:ln w="25400">
            <a:solidFill>
              <a:srgbClr val="005C2B"/>
            </a:solidFill>
          </a:ln>
          <a:effectLst/>
        </p:spPr>
      </p:cxnSp>
      <p:sp>
        <p:nvSpPr>
          <p:cNvPr id="5" name="TextBox 4"/>
          <p:cNvSpPr txBox="1"/>
          <p:nvPr/>
        </p:nvSpPr>
        <p:spPr>
          <a:xfrm>
            <a:off x="548640" y="1481328"/>
            <a:ext cx="11094415" cy="457200"/>
          </a:xfrm>
          <a:prstGeom prst="rect">
            <a:avLst/>
          </a:prstGeom>
          <a:noFill/>
        </p:spPr>
        <p:txBody>
          <a:bodyPr wrap="square" lIns="0" tIns="18288" rIns="0" bIns="18288" anchor="t">
            <a:spAutoFit/>
          </a:bodyPr>
          <a:lstStyle/>
          <a:p>
            <a:pPr algn="l"/>
            <a:r>
              <a:rPr sz="1800" b="1">
                <a:solidFill>
                  <a:srgbClr val="111111"/>
                </a:solidFill>
                <a:latin typeface="Public Sans" pitchFamily="34" charset="0"/>
              </a:rPr>
              <a:t>Deux chantiers restent devant nous.</a:t>
            </a:r>
          </a:p>
        </p:txBody>
      </p:sp>
      <p:pic>
        <p:nvPicPr>
          <p:cNvPr id="6" name="Picture 5" descr="armoiries.png"/>
          <p:cNvPicPr>
            <a:picLocks noChangeAspect="1"/>
          </p:cNvPicPr>
          <p:nvPr/>
        </p:nvPicPr>
        <p:blipFill>
          <a:blip r:embed="rId3"/>
          <a:stretch>
            <a:fillRect/>
          </a:stretch>
        </p:blipFill>
        <p:spPr>
          <a:xfrm>
            <a:off x="548640" y="6355080"/>
            <a:ext cx="264791" cy="310896"/>
          </a:xfrm>
          <a:prstGeom prst="rect">
            <a:avLst/>
          </a:prstGeom>
        </p:spPr>
      </p:pic>
      <p:sp>
        <p:nvSpPr>
          <p:cNvPr id="7" name="TextBox 6"/>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555555"/>
                </a:solidFill>
                <a:latin typeface="Public Sans" pitchFamily="34" charset="0"/>
              </a:rPr>
              <a:t>Raaga · Aperçu de la plateforme</a:t>
            </a:r>
          </a:p>
        </p:txBody>
      </p:sp>
      <p:sp>
        <p:nvSpPr>
          <p:cNvPr id="8" name="TextBox 7"/>
          <p:cNvSpPr txBox="1"/>
          <p:nvPr/>
        </p:nvSpPr>
        <p:spPr>
          <a:xfrm>
            <a:off x="10728655" y="6355080"/>
            <a:ext cx="914400" cy="310896"/>
          </a:xfrm>
          <a:prstGeom prst="rect">
            <a:avLst/>
          </a:prstGeom>
          <a:noFill/>
        </p:spPr>
        <p:txBody>
          <a:bodyPr wrap="square" lIns="0" tIns="18288" rIns="0" bIns="18288" anchor="ctr">
            <a:spAutoFit/>
          </a:bodyPr>
          <a:lstStyle/>
          <a:p>
            <a:pPr algn="r"/>
            <a:r>
              <a:rPr sz="1000" b="0">
                <a:solidFill>
                  <a:srgbClr val="555555"/>
                </a:solidFill>
                <a:latin typeface="Public Sans" pitchFamily="34" charset="0"/>
              </a:rPr>
              <a:t>14</a:t>
            </a:r>
          </a:p>
        </p:txBody>
      </p:sp>
      <p:sp>
        <p:nvSpPr>
          <p:cNvPr id="9" name="Rectangle 8"/>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0" name="Rectangle 9"/>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1" name="Rectangle 10"/>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
        <p:nvSpPr>
          <p:cNvPr id="12" name="Rectangle 11"/>
          <p:cNvSpPr/>
          <p:nvPr/>
        </p:nvSpPr>
        <p:spPr>
          <a:xfrm>
            <a:off x="548640" y="2148840"/>
            <a:ext cx="5318607" cy="2011680"/>
          </a:xfrm>
          <a:prstGeom prst="rect">
            <a:avLst/>
          </a:prstGeom>
          <a:solidFill>
            <a:srgbClr val="FFFFFF"/>
          </a:solidFill>
          <a:ln w="12700">
            <a:solidFill>
              <a:srgbClr val="D9D9D9"/>
            </a:solidFill>
          </a:ln>
          <a:effectLst/>
        </p:spPr>
        <p:txBody>
          <a:bodyPr rtlCol="0" anchor="ctr"/>
          <a:lstStyle/>
          <a:p>
            <a:pPr algn="ctr"/>
            <a:endParaRPr/>
          </a:p>
        </p:txBody>
      </p:sp>
      <p:sp>
        <p:nvSpPr>
          <p:cNvPr id="13" name="Rectangle 12"/>
          <p:cNvSpPr/>
          <p:nvPr/>
        </p:nvSpPr>
        <p:spPr>
          <a:xfrm>
            <a:off x="548640" y="2148840"/>
            <a:ext cx="73152" cy="2011680"/>
          </a:xfrm>
          <a:prstGeom prst="rect">
            <a:avLst/>
          </a:prstGeom>
          <a:solidFill>
            <a:srgbClr val="005C2B"/>
          </a:solidFill>
          <a:ln>
            <a:noFill/>
          </a:ln>
          <a:effectLst/>
        </p:spPr>
        <p:txBody>
          <a:bodyPr rtlCol="0" anchor="ctr"/>
          <a:lstStyle/>
          <a:p>
            <a:pPr algn="ctr"/>
            <a:endParaRPr/>
          </a:p>
        </p:txBody>
      </p:sp>
      <p:sp>
        <p:nvSpPr>
          <p:cNvPr id="14" name="TextBox 13"/>
          <p:cNvSpPr txBox="1"/>
          <p:nvPr/>
        </p:nvSpPr>
        <p:spPr>
          <a:xfrm>
            <a:off x="868680" y="2423160"/>
            <a:ext cx="4724247" cy="457200"/>
          </a:xfrm>
          <a:prstGeom prst="rect">
            <a:avLst/>
          </a:prstGeom>
          <a:noFill/>
        </p:spPr>
        <p:txBody>
          <a:bodyPr wrap="square" lIns="0" tIns="18288" rIns="0" bIns="18288" anchor="t">
            <a:spAutoFit/>
          </a:bodyPr>
          <a:lstStyle/>
          <a:p>
            <a:pPr algn="l"/>
            <a:r>
              <a:rPr sz="2000" b="1">
                <a:solidFill>
                  <a:srgbClr val="111111"/>
                </a:solidFill>
                <a:latin typeface="Public Sans" pitchFamily="34" charset="0"/>
              </a:rPr>
              <a:t>Envoi des SMS</a:t>
            </a:r>
          </a:p>
        </p:txBody>
      </p:sp>
      <p:sp>
        <p:nvSpPr>
          <p:cNvPr id="15" name="TextBox 14"/>
          <p:cNvSpPr txBox="1"/>
          <p:nvPr/>
        </p:nvSpPr>
        <p:spPr>
          <a:xfrm>
            <a:off x="868680" y="3017520"/>
            <a:ext cx="4724247" cy="1005840"/>
          </a:xfrm>
          <a:prstGeom prst="rect">
            <a:avLst/>
          </a:prstGeom>
          <a:noFill/>
        </p:spPr>
        <p:txBody>
          <a:bodyPr wrap="square" lIns="0" tIns="18288" rIns="0" bIns="18288" anchor="t">
            <a:spAutoFit/>
          </a:bodyPr>
          <a:lstStyle/>
          <a:p>
            <a:pPr algn="l"/>
            <a:r>
              <a:rPr sz="1800" b="0">
                <a:solidFill>
                  <a:srgbClr val="555555"/>
                </a:solidFill>
                <a:latin typeface="Public Sans" pitchFamily="34" charset="0"/>
              </a:rPr>
              <a:t>Codes de connexion et alertes envoyés aux citoyens par un opérateur</a:t>
            </a:r>
          </a:p>
        </p:txBody>
      </p:sp>
      <p:sp>
        <p:nvSpPr>
          <p:cNvPr id="16" name="Rectangle 15"/>
          <p:cNvSpPr/>
          <p:nvPr/>
        </p:nvSpPr>
        <p:spPr>
          <a:xfrm>
            <a:off x="6324447" y="2148840"/>
            <a:ext cx="5318607" cy="2011680"/>
          </a:xfrm>
          <a:prstGeom prst="rect">
            <a:avLst/>
          </a:prstGeom>
          <a:solidFill>
            <a:srgbClr val="FFFFFF"/>
          </a:solidFill>
          <a:ln w="12700">
            <a:solidFill>
              <a:srgbClr val="D9D9D9"/>
            </a:solidFill>
          </a:ln>
          <a:effectLst/>
        </p:spPr>
        <p:txBody>
          <a:bodyPr rtlCol="0" anchor="ctr"/>
          <a:lstStyle/>
          <a:p>
            <a:pPr algn="ctr"/>
            <a:endParaRPr/>
          </a:p>
        </p:txBody>
      </p:sp>
      <p:sp>
        <p:nvSpPr>
          <p:cNvPr id="17" name="Rectangle 16"/>
          <p:cNvSpPr/>
          <p:nvPr/>
        </p:nvSpPr>
        <p:spPr>
          <a:xfrm>
            <a:off x="6324447" y="2148840"/>
            <a:ext cx="73152" cy="2011680"/>
          </a:xfrm>
          <a:prstGeom prst="rect">
            <a:avLst/>
          </a:prstGeom>
          <a:solidFill>
            <a:srgbClr val="005C2B"/>
          </a:solidFill>
          <a:ln>
            <a:noFill/>
          </a:ln>
          <a:effectLst/>
        </p:spPr>
        <p:txBody>
          <a:bodyPr rtlCol="0" anchor="ctr"/>
          <a:lstStyle/>
          <a:p>
            <a:pPr algn="ctr"/>
            <a:endParaRPr/>
          </a:p>
        </p:txBody>
      </p:sp>
      <p:sp>
        <p:nvSpPr>
          <p:cNvPr id="18" name="TextBox 17"/>
          <p:cNvSpPr txBox="1"/>
          <p:nvPr/>
        </p:nvSpPr>
        <p:spPr>
          <a:xfrm>
            <a:off x="6644487" y="2423160"/>
            <a:ext cx="4724247" cy="457200"/>
          </a:xfrm>
          <a:prstGeom prst="rect">
            <a:avLst/>
          </a:prstGeom>
          <a:noFill/>
        </p:spPr>
        <p:txBody>
          <a:bodyPr wrap="square" lIns="0" tIns="18288" rIns="0" bIns="18288" anchor="t">
            <a:spAutoFit/>
          </a:bodyPr>
          <a:lstStyle/>
          <a:p>
            <a:pPr algn="l"/>
            <a:r>
              <a:rPr sz="2000" b="1">
                <a:solidFill>
                  <a:srgbClr val="111111"/>
                </a:solidFill>
                <a:latin typeface="Public Sans" pitchFamily="34" charset="0"/>
              </a:rPr>
              <a:t>Carte dans le téléphone</a:t>
            </a:r>
          </a:p>
        </p:txBody>
      </p:sp>
      <p:sp>
        <p:nvSpPr>
          <p:cNvPr id="19" name="TextBox 18"/>
          <p:cNvSpPr txBox="1"/>
          <p:nvPr/>
        </p:nvSpPr>
        <p:spPr>
          <a:xfrm>
            <a:off x="6644487" y="3017520"/>
            <a:ext cx="4724247" cy="1005840"/>
          </a:xfrm>
          <a:prstGeom prst="rect">
            <a:avLst/>
          </a:prstGeom>
          <a:noFill/>
        </p:spPr>
        <p:txBody>
          <a:bodyPr wrap="square" lIns="0" tIns="18288" rIns="0" bIns="18288" anchor="t">
            <a:spAutoFit/>
          </a:bodyPr>
          <a:lstStyle/>
          <a:p>
            <a:pPr algn="l"/>
            <a:r>
              <a:rPr sz="1800" b="0">
                <a:solidFill>
                  <a:srgbClr val="555555"/>
                </a:solidFill>
                <a:latin typeface="Public Sans" pitchFamily="34" charset="0"/>
              </a:rPr>
              <a:t>La carte commerçant ajoutée au portefeuille du téléphone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rche.png"/>
          <p:cNvPicPr>
            <a:picLocks noChangeAspect="1"/>
          </p:cNvPicPr>
          <p:nvPr/>
        </p:nvPicPr>
        <p:blipFill>
          <a:blip r:embed="rId3"/>
          <a:srcRect t="12165" b="12165"/>
          <a:stretch>
            <a:fillRect/>
          </a:stretch>
        </p:blipFill>
        <p:spPr>
          <a:xfrm>
            <a:off x="0" y="0"/>
            <a:ext cx="12191695" cy="6858000"/>
          </a:xfrm>
          <a:prstGeom prst="rect">
            <a:avLst/>
          </a:prstGeom>
        </p:spPr>
      </p:pic>
      <p:sp>
        <p:nvSpPr>
          <p:cNvPr id="3" name="Rectangle 2"/>
          <p:cNvSpPr/>
          <p:nvPr/>
        </p:nvSpPr>
        <p:spPr>
          <a:xfrm>
            <a:off x="0" y="0"/>
            <a:ext cx="6095847" cy="6800850"/>
          </a:xfrm>
          <a:prstGeom prst="rect">
            <a:avLst/>
          </a:prstGeom>
          <a:solidFill>
            <a:srgbClr val="000000">
              <a:alpha val="85000"/>
            </a:srgbClr>
          </a:solidFill>
          <a:ln>
            <a:noFill/>
          </a:ln>
          <a:effectLst/>
        </p:spPr>
        <p:txBody>
          <a:bodyPr rtlCol="0" anchor="ctr"/>
          <a:lstStyle/>
          <a:p>
            <a:pPr algn="ctr"/>
            <a:endParaRPr/>
          </a:p>
        </p:txBody>
      </p:sp>
      <p:sp>
        <p:nvSpPr>
          <p:cNvPr id="4" name="TextBox 3"/>
          <p:cNvSpPr txBox="1"/>
          <p:nvPr/>
        </p:nvSpPr>
        <p:spPr>
          <a:xfrm>
            <a:off x="548640" y="365760"/>
            <a:ext cx="5135727" cy="320040"/>
          </a:xfrm>
          <a:prstGeom prst="rect">
            <a:avLst/>
          </a:prstGeom>
          <a:noFill/>
        </p:spPr>
        <p:txBody>
          <a:bodyPr wrap="square" lIns="0" tIns="18288" rIns="0" bIns="18288" anchor="t">
            <a:spAutoFit/>
          </a:bodyPr>
          <a:lstStyle/>
          <a:p>
            <a:pPr algn="l"/>
            <a:r>
              <a:rPr sz="1400" b="1">
                <a:solidFill>
                  <a:srgbClr val="FFFFFF"/>
                </a:solidFill>
                <a:latin typeface="Public Sans" pitchFamily="34" charset="0"/>
              </a:rPr>
              <a:t>Bilan</a:t>
            </a:r>
          </a:p>
        </p:txBody>
      </p:sp>
      <p:sp>
        <p:nvSpPr>
          <p:cNvPr id="5" name="TextBox 4"/>
          <p:cNvSpPr txBox="1"/>
          <p:nvPr/>
        </p:nvSpPr>
        <p:spPr>
          <a:xfrm>
            <a:off x="548640" y="658368"/>
            <a:ext cx="5135727" cy="594360"/>
          </a:xfrm>
          <a:prstGeom prst="rect">
            <a:avLst/>
          </a:prstGeom>
          <a:noFill/>
        </p:spPr>
        <p:txBody>
          <a:bodyPr wrap="square" lIns="0" tIns="18288" rIns="0" bIns="18288" anchor="t">
            <a:spAutoFit/>
          </a:bodyPr>
          <a:lstStyle/>
          <a:p>
            <a:pPr algn="l"/>
            <a:r>
              <a:rPr sz="3200" b="1">
                <a:solidFill>
                  <a:srgbClr val="FFFFFF"/>
                </a:solidFill>
                <a:latin typeface="Public Sans" pitchFamily="34" charset="0"/>
              </a:rPr>
              <a:t>Conclusion et questions</a:t>
            </a:r>
          </a:p>
        </p:txBody>
      </p:sp>
      <p:cxnSp>
        <p:nvCxnSpPr>
          <p:cNvPr id="6" name="Connector 5"/>
          <p:cNvCxnSpPr/>
          <p:nvPr/>
        </p:nvCxnSpPr>
        <p:spPr>
          <a:xfrm>
            <a:off x="548640" y="1325880"/>
            <a:ext cx="1097280" cy="0"/>
          </a:xfrm>
          <a:prstGeom prst="line">
            <a:avLst/>
          </a:prstGeom>
          <a:ln w="25400">
            <a:solidFill>
              <a:srgbClr val="FFFFFF"/>
            </a:solidFill>
          </a:ln>
          <a:effectLst/>
        </p:spPr>
      </p:cxnSp>
      <p:sp>
        <p:nvSpPr>
          <p:cNvPr id="7" name="TextBox 6"/>
          <p:cNvSpPr txBox="1"/>
          <p:nvPr/>
        </p:nvSpPr>
        <p:spPr>
          <a:xfrm>
            <a:off x="548640" y="1691640"/>
            <a:ext cx="5135727" cy="3566160"/>
          </a:xfrm>
          <a:prstGeom prst="rect">
            <a:avLst/>
          </a:prstGeom>
          <a:noFill/>
        </p:spPr>
        <p:txBody>
          <a:bodyPr wrap="square" lIns="0" rIns="0">
            <a:spAutoFit/>
          </a:bodyPr>
          <a:lstStyle/>
          <a:p>
            <a:pPr marL="274320" indent="-274320">
              <a:spcAft>
                <a:spcPts val="1200"/>
              </a:spcAft>
              <a:buFont typeface="Public Sans" pitchFamily="34" charset="0"/>
              <a:buChar char="•"/>
            </a:pPr>
            <a:r>
              <a:rPr sz="1800">
                <a:solidFill>
                  <a:srgbClr val="FFFFFF"/>
                </a:solidFill>
                <a:latin typeface="Public Sans" pitchFamily="34" charset="0"/>
              </a:rPr>
              <a:t>Équité : les mêmes règles pour tous, appliquées automatiquement</a:t>
            </a:r>
          </a:p>
          <a:p>
            <a:pPr marL="274320" indent="-274320">
              <a:spcAft>
                <a:spcPts val="1200"/>
              </a:spcAft>
              <a:buFont typeface="Public Sans" pitchFamily="34" charset="0"/>
              <a:buChar char="•"/>
            </a:pPr>
            <a:r>
              <a:rPr sz="1800">
                <a:solidFill>
                  <a:srgbClr val="FFFFFF"/>
                </a:solidFill>
                <a:latin typeface="Public Sans" pitchFamily="34" charset="0"/>
              </a:rPr>
              <a:t>Transparence : le statut des boutiques et l’avancement sont publics</a:t>
            </a:r>
          </a:p>
          <a:p>
            <a:pPr marL="274320" indent="-274320">
              <a:spcAft>
                <a:spcPts val="1200"/>
              </a:spcAft>
              <a:buFont typeface="Public Sans" pitchFamily="34" charset="0"/>
              <a:buChar char="•"/>
            </a:pPr>
            <a:r>
              <a:rPr sz="1800">
                <a:solidFill>
                  <a:srgbClr val="FFFFFF"/>
                </a:solidFill>
                <a:latin typeface="Public Sans" pitchFamily="34" charset="0"/>
              </a:rPr>
              <a:t>Traçabilité : chaque paiement et chaque décision sont enregistrés</a:t>
            </a:r>
          </a:p>
          <a:p>
            <a:pPr marL="274320" indent="-274320">
              <a:spcAft>
                <a:spcPts val="1200"/>
              </a:spcAft>
              <a:buFont typeface="Public Sans" pitchFamily="34" charset="0"/>
              <a:buChar char="•"/>
            </a:pPr>
            <a:r>
              <a:rPr sz="1800">
                <a:solidFill>
                  <a:srgbClr val="FFFFFF"/>
                </a:solidFill>
                <a:latin typeface="Public Sans" pitchFamily="34" charset="0"/>
              </a:rPr>
              <a:t>Lutte contre la fraude : identité vérifiée, cartes contrôlées</a:t>
            </a:r>
          </a:p>
        </p:txBody>
      </p:sp>
      <p:sp>
        <p:nvSpPr>
          <p:cNvPr id="8" name="TextBox 7"/>
          <p:cNvSpPr txBox="1"/>
          <p:nvPr/>
        </p:nvSpPr>
        <p:spPr>
          <a:xfrm>
            <a:off x="548640" y="5257800"/>
            <a:ext cx="5135727" cy="640080"/>
          </a:xfrm>
          <a:prstGeom prst="rect">
            <a:avLst/>
          </a:prstGeom>
          <a:noFill/>
        </p:spPr>
        <p:txBody>
          <a:bodyPr wrap="square" lIns="0" tIns="18288" rIns="0" bIns="18288" anchor="t">
            <a:spAutoFit/>
          </a:bodyPr>
          <a:lstStyle/>
          <a:p>
            <a:pPr algn="l"/>
            <a:r>
              <a:rPr sz="3200" b="1">
                <a:solidFill>
                  <a:srgbClr val="FFFFFF"/>
                </a:solidFill>
                <a:latin typeface="Public Sans" pitchFamily="34" charset="0"/>
              </a:rPr>
              <a:t>Merci. Questions ?</a:t>
            </a:r>
          </a:p>
        </p:txBody>
      </p:sp>
      <p:pic>
        <p:nvPicPr>
          <p:cNvPr id="9" name="Picture 8" descr="armoiries.png"/>
          <p:cNvPicPr>
            <a:picLocks noChangeAspect="1"/>
          </p:cNvPicPr>
          <p:nvPr/>
        </p:nvPicPr>
        <p:blipFill>
          <a:blip r:embed="rId4"/>
          <a:stretch>
            <a:fillRect/>
          </a:stretch>
        </p:blipFill>
        <p:spPr>
          <a:xfrm>
            <a:off x="548640" y="6355080"/>
            <a:ext cx="264791" cy="310896"/>
          </a:xfrm>
          <a:prstGeom prst="rect">
            <a:avLst/>
          </a:prstGeom>
        </p:spPr>
      </p:pic>
      <p:sp>
        <p:nvSpPr>
          <p:cNvPr id="10" name="TextBox 9"/>
          <p:cNvSpPr txBox="1"/>
          <p:nvPr/>
        </p:nvSpPr>
        <p:spPr>
          <a:xfrm>
            <a:off x="923159" y="6355080"/>
            <a:ext cx="5486400" cy="310896"/>
          </a:xfrm>
          <a:prstGeom prst="rect">
            <a:avLst/>
          </a:prstGeom>
          <a:noFill/>
        </p:spPr>
        <p:txBody>
          <a:bodyPr wrap="square" lIns="0" tIns="18288" rIns="0" bIns="18288" anchor="ctr">
            <a:spAutoFit/>
          </a:bodyPr>
          <a:lstStyle/>
          <a:p>
            <a:pPr algn="l"/>
            <a:r>
              <a:rPr sz="1000" b="0">
                <a:solidFill>
                  <a:srgbClr val="FFFFFF"/>
                </a:solidFill>
                <a:latin typeface="Public Sans" pitchFamily="34" charset="0"/>
              </a:rPr>
              <a:t>Raaga · Aperçu de la plateforme</a:t>
            </a:r>
          </a:p>
        </p:txBody>
      </p:sp>
      <p:sp>
        <p:nvSpPr>
          <p:cNvPr id="11" name="TextBox 10"/>
          <p:cNvSpPr txBox="1"/>
          <p:nvPr/>
        </p:nvSpPr>
        <p:spPr>
          <a:xfrm>
            <a:off x="4769967" y="6355080"/>
            <a:ext cx="914400" cy="310896"/>
          </a:xfrm>
          <a:prstGeom prst="rect">
            <a:avLst/>
          </a:prstGeom>
          <a:noFill/>
        </p:spPr>
        <p:txBody>
          <a:bodyPr wrap="square" lIns="0" tIns="18288" rIns="0" bIns="18288" anchor="ctr">
            <a:spAutoFit/>
          </a:bodyPr>
          <a:lstStyle/>
          <a:p>
            <a:pPr algn="r"/>
            <a:r>
              <a:rPr sz="1000" b="0">
                <a:solidFill>
                  <a:srgbClr val="FFFFFF"/>
                </a:solidFill>
                <a:latin typeface="Public Sans" pitchFamily="34" charset="0"/>
              </a:rPr>
              <a:t>15</a:t>
            </a:r>
          </a:p>
        </p:txBody>
      </p:sp>
      <p:sp>
        <p:nvSpPr>
          <p:cNvPr id="12" name="Rectangle 11"/>
          <p:cNvSpPr/>
          <p:nvPr/>
        </p:nvSpPr>
        <p:spPr>
          <a:xfrm>
            <a:off x="0" y="6800850"/>
            <a:ext cx="5852013" cy="57150"/>
          </a:xfrm>
          <a:prstGeom prst="rect">
            <a:avLst/>
          </a:prstGeom>
          <a:solidFill>
            <a:srgbClr val="CE1126"/>
          </a:solidFill>
          <a:ln>
            <a:noFill/>
          </a:ln>
          <a:effectLst/>
        </p:spPr>
        <p:txBody>
          <a:bodyPr rtlCol="0" anchor="ctr"/>
          <a:lstStyle/>
          <a:p>
            <a:pPr algn="ctr"/>
            <a:endParaRPr/>
          </a:p>
        </p:txBody>
      </p:sp>
      <p:sp>
        <p:nvSpPr>
          <p:cNvPr id="13" name="Rectangle 12"/>
          <p:cNvSpPr/>
          <p:nvPr/>
        </p:nvSpPr>
        <p:spPr>
          <a:xfrm>
            <a:off x="5852013" y="6800850"/>
            <a:ext cx="487667" cy="57150"/>
          </a:xfrm>
          <a:prstGeom prst="rect">
            <a:avLst/>
          </a:prstGeom>
          <a:solidFill>
            <a:srgbClr val="FCD116"/>
          </a:solidFill>
          <a:ln>
            <a:noFill/>
          </a:ln>
          <a:effectLst/>
        </p:spPr>
        <p:txBody>
          <a:bodyPr rtlCol="0" anchor="ctr"/>
          <a:lstStyle/>
          <a:p>
            <a:pPr algn="ctr"/>
            <a:endParaRPr/>
          </a:p>
        </p:txBody>
      </p:sp>
      <p:sp>
        <p:nvSpPr>
          <p:cNvPr id="14" name="Rectangle 13"/>
          <p:cNvSpPr/>
          <p:nvPr/>
        </p:nvSpPr>
        <p:spPr>
          <a:xfrm>
            <a:off x="6339680" y="6800850"/>
            <a:ext cx="5852015" cy="57150"/>
          </a:xfrm>
          <a:prstGeom prst="rect">
            <a:avLst/>
          </a:prstGeom>
          <a:solidFill>
            <a:srgbClr val="00843D"/>
          </a:solidFill>
          <a:ln>
            <a:noFill/>
          </a:ln>
          <a:effectLst/>
        </p:spPr>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2006</Words>
  <Application>Microsoft Office PowerPoint</Application>
  <PresentationFormat>Grand écran</PresentationFormat>
  <Paragraphs>188</Paragraphs>
  <Slides>15</Slides>
  <Notes>15</Notes>
  <HiddenSlides>3</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Calibri</vt:lpstr>
      <vt:lpstr>Public Sans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Raaga, aperçu de la plateforme</dc:title>
  <dc:subject/>
  <dc:creator>Raaga</dc:creator>
  <cp:keywords/>
  <dc:description/>
  <cp:lastModifiedBy>MILLOGO</cp:lastModifiedBy>
  <cp:revision>18</cp:revision>
  <dcterms:created xsi:type="dcterms:W3CDTF">2013-01-27T09:14:16Z</dcterms:created>
  <dcterms:modified xsi:type="dcterms:W3CDTF">2026-10-23T10:43:37Z</dcterms:modified>
  <cp:category/>
</cp:coreProperties>
</file>